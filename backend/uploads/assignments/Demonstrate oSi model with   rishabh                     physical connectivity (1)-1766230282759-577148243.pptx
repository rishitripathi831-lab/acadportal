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B8EF6D-7D06-42B1-A73F-BA8A3EC09EF7}" v="9" dt="2024-09-25T03:56:16.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84120D-A4C6-4E8D-BBDE-ABD5670FA096}" type="datetimeFigureOut">
              <a:rPr lang="en-IN" smtClean="0"/>
              <a:t>16-10-2024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015C96-753F-4F7D-B805-8D8172537FAC}" type="slidenum">
              <a:rPr lang="en-IN" smtClean="0"/>
              <a:t>‹#›</a:t>
            </a:fld>
            <a:endParaRPr lang="en-IN"/>
          </a:p>
        </p:txBody>
      </p:sp>
    </p:spTree>
    <p:extLst>
      <p:ext uri="{BB962C8B-B14F-4D97-AF65-F5344CB8AC3E}">
        <p14:creationId xmlns:p14="http://schemas.microsoft.com/office/powerpoint/2010/main" val="4082511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2015C96-753F-4F7D-B805-8D8172537FAC}" type="slidenum">
              <a:rPr lang="en-IN" smtClean="0"/>
              <a:t>9</a:t>
            </a:fld>
            <a:endParaRPr lang="en-IN"/>
          </a:p>
        </p:txBody>
      </p:sp>
    </p:spTree>
    <p:extLst>
      <p:ext uri="{BB962C8B-B14F-4D97-AF65-F5344CB8AC3E}">
        <p14:creationId xmlns:p14="http://schemas.microsoft.com/office/powerpoint/2010/main" val="2407165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2548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05677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5258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975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90737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8218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3070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1097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8498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7119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32971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87721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888521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5990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4158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7499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0644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75510"/>
      </p:ext>
    </p:extLst>
  </p:cSld>
  <p:clrMap bg1="dk1" tx1="lt1" bg2="dk2" tx2="lt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introduction-to-skyp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difference-between-ascii-and-ebcdic"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56850B-B08D-B9BD-9120-1AFE0565C681}"/>
              </a:ext>
            </a:extLst>
          </p:cNvPr>
          <p:cNvSpPr>
            <a:spLocks noGrp="1"/>
          </p:cNvSpPr>
          <p:nvPr>
            <p:ph type="title"/>
          </p:nvPr>
        </p:nvSpPr>
        <p:spPr>
          <a:xfrm>
            <a:off x="685801" y="698089"/>
            <a:ext cx="10131425" cy="6430297"/>
          </a:xfrm>
        </p:spPr>
        <p:txBody>
          <a:bodyPr/>
          <a:lstStyle/>
          <a:p>
            <a:r>
              <a:rPr lang="en-US" b="1" dirty="0">
                <a:latin typeface="Times New Roman" panose="02020603050405020304" pitchFamily="18" charset="0"/>
                <a:cs typeface="Times New Roman" panose="02020603050405020304" pitchFamily="18" charset="0"/>
              </a:rPr>
              <a:t>Demonstrate OSI model with                        physical connectivity</a:t>
            </a: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Made by Rishabh Pandey</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196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8D962-FA38-E51E-D67F-B889B707E19B}"/>
              </a:ext>
            </a:extLst>
          </p:cNvPr>
          <p:cNvSpPr>
            <a:spLocks noGrp="1"/>
          </p:cNvSpPr>
          <p:nvPr>
            <p:ph type="title"/>
          </p:nvPr>
        </p:nvSpPr>
        <p:spPr>
          <a:xfrm>
            <a:off x="371166" y="245806"/>
            <a:ext cx="10131425" cy="1317523"/>
          </a:xfrm>
        </p:spPr>
        <p:txBody>
          <a:bodyPr>
            <a:normAutofit/>
          </a:bodyPr>
          <a:lstStyle/>
          <a:p>
            <a:r>
              <a:rPr lang="en-US" sz="2800" b="1" dirty="0">
                <a:latin typeface="Times New Roman" panose="02020603050405020304" pitchFamily="18" charset="0"/>
                <a:cs typeface="Times New Roman" panose="02020603050405020304" pitchFamily="18" charset="0"/>
              </a:rPr>
              <a:t>Introduction</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CD1856-3ECB-4465-9A28-03A4195B7F60}"/>
              </a:ext>
            </a:extLst>
          </p:cNvPr>
          <p:cNvSpPr>
            <a:spLocks noGrp="1"/>
          </p:cNvSpPr>
          <p:nvPr>
            <p:ph idx="1"/>
          </p:nvPr>
        </p:nvSpPr>
        <p:spPr>
          <a:xfrm>
            <a:off x="371166" y="1337187"/>
            <a:ext cx="10131425" cy="4345858"/>
          </a:xfrm>
        </p:spPr>
        <p:txBody>
          <a:bodyPr>
            <a:normAutofit/>
          </a:bodyPr>
          <a:lstStyle/>
          <a:p>
            <a:pPr algn="just" rtl="0"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OSI stands for Open Systems Interconnection </a:t>
            </a:r>
            <a:r>
              <a:rPr lang="en-US" b="0" i="0" dirty="0">
                <a:solidFill>
                  <a:srgbClr val="FFFFFF"/>
                </a:solidFill>
                <a:effectLst/>
                <a:latin typeface="Times New Roman" panose="02020603050405020304" pitchFamily="18" charset="0"/>
                <a:cs typeface="Times New Roman" panose="02020603050405020304" pitchFamily="18" charset="0"/>
              </a:rPr>
              <a:t>, where open stands to say non-proprietary. It is a 7-layer architecture with each layer having specific functionality to perform. All these 7 layers work collaboratively to transmit the data from one person to another across the globe. The OSI reference model was developed by </a:t>
            </a:r>
            <a:r>
              <a:rPr lang="en-US" b="1" i="0" dirty="0">
                <a:solidFill>
                  <a:srgbClr val="FFFFFF"/>
                </a:solidFill>
                <a:effectLst/>
                <a:latin typeface="Times New Roman" panose="02020603050405020304" pitchFamily="18" charset="0"/>
                <a:cs typeface="Times New Roman" panose="02020603050405020304" pitchFamily="18" charset="0"/>
              </a:rPr>
              <a:t>ISO – ‘International Organization for Standardization </a:t>
            </a:r>
            <a:r>
              <a:rPr lang="en-US" b="0" i="0" dirty="0">
                <a:solidFill>
                  <a:srgbClr val="FFFFFF"/>
                </a:solidFill>
                <a:effectLst/>
                <a:latin typeface="Times New Roman" panose="02020603050405020304" pitchFamily="18" charset="0"/>
                <a:cs typeface="Times New Roman" panose="02020603050405020304" pitchFamily="18" charset="0"/>
              </a:rPr>
              <a:t>‘, in the year 1984.</a:t>
            </a:r>
          </a:p>
          <a:p>
            <a:pPr algn="just" rtl="0" fontAlgn="base">
              <a:buFont typeface="Wingdings" panose="05000000000000000000" pitchFamily="2" charset="2"/>
              <a:buChar char="Ø"/>
            </a:pPr>
            <a:r>
              <a:rPr lang="en-US" b="0" i="0" dirty="0">
                <a:solidFill>
                  <a:srgbClr val="FFFFFF"/>
                </a:solidFill>
                <a:effectLst/>
                <a:latin typeface="Times New Roman" panose="02020603050405020304" pitchFamily="18" charset="0"/>
                <a:cs typeface="Times New Roman" panose="02020603050405020304" pitchFamily="18" charset="0"/>
              </a:rPr>
              <a:t>The OSI model provides a </a:t>
            </a:r>
            <a:r>
              <a:rPr lang="en-US" b="1" i="0" dirty="0">
                <a:solidFill>
                  <a:srgbClr val="FFFFFF"/>
                </a:solidFill>
                <a:effectLst/>
                <a:latin typeface="Times New Roman" panose="02020603050405020304" pitchFamily="18" charset="0"/>
                <a:cs typeface="Times New Roman" panose="02020603050405020304" pitchFamily="18" charset="0"/>
              </a:rPr>
              <a:t>theoretical foundation </a:t>
            </a:r>
            <a:r>
              <a:rPr lang="en-US" b="0" i="0" dirty="0">
                <a:solidFill>
                  <a:srgbClr val="FFFFFF"/>
                </a:solidFill>
                <a:effectLst/>
                <a:latin typeface="Times New Roman" panose="02020603050405020304" pitchFamily="18" charset="0"/>
                <a:cs typeface="Times New Roman" panose="02020603050405020304" pitchFamily="18" charset="0"/>
              </a:rPr>
              <a:t>for understanding </a:t>
            </a:r>
            <a:r>
              <a:rPr lang="en-US" b="1" i="0" dirty="0">
                <a:solidFill>
                  <a:srgbClr val="FFFFFF"/>
                </a:solidFill>
                <a:effectLst/>
                <a:latin typeface="Times New Roman" panose="02020603050405020304" pitchFamily="18" charset="0"/>
                <a:cs typeface="Times New Roman" panose="02020603050405020304" pitchFamily="18" charset="0"/>
              </a:rPr>
              <a:t>network communication </a:t>
            </a:r>
            <a:r>
              <a:rPr lang="en-US" b="0" i="0" dirty="0">
                <a:solidFill>
                  <a:srgbClr val="FFFFFF"/>
                </a:solidFill>
                <a:effectLst/>
                <a:latin typeface="Times New Roman" panose="02020603050405020304" pitchFamily="18" charset="0"/>
                <a:cs typeface="Times New Roman" panose="02020603050405020304" pitchFamily="18" charset="0"/>
              </a:rPr>
              <a:t>. However, it is usually not directly implemented in its entirety in real-world </a:t>
            </a:r>
            <a:r>
              <a:rPr lang="en-US" b="1" i="0" dirty="0">
                <a:solidFill>
                  <a:srgbClr val="FFFFFF"/>
                </a:solidFill>
                <a:effectLst/>
                <a:latin typeface="Times New Roman" panose="02020603050405020304" pitchFamily="18" charset="0"/>
                <a:cs typeface="Times New Roman" panose="02020603050405020304" pitchFamily="18" charset="0"/>
              </a:rPr>
              <a:t>networking hardware </a:t>
            </a:r>
            <a:r>
              <a:rPr lang="en-US" b="0" i="0" dirty="0">
                <a:solidFill>
                  <a:srgbClr val="FFFFFF"/>
                </a:solidFill>
                <a:effectLst/>
                <a:latin typeface="Times New Roman" panose="02020603050405020304" pitchFamily="18" charset="0"/>
                <a:cs typeface="Times New Roman" panose="02020603050405020304" pitchFamily="18" charset="0"/>
              </a:rPr>
              <a:t>or </a:t>
            </a:r>
            <a:r>
              <a:rPr lang="en-US" b="1" i="0" dirty="0">
                <a:solidFill>
                  <a:srgbClr val="FFFFFF"/>
                </a:solidFill>
                <a:effectLst/>
                <a:latin typeface="Times New Roman" panose="02020603050405020304" pitchFamily="18" charset="0"/>
                <a:cs typeface="Times New Roman" panose="02020603050405020304" pitchFamily="18" charset="0"/>
              </a:rPr>
              <a:t>software </a:t>
            </a:r>
            <a:r>
              <a:rPr lang="en-US" b="0" i="0" dirty="0">
                <a:solidFill>
                  <a:srgbClr val="FFFFFF"/>
                </a:solidFill>
                <a:effectLst/>
                <a:latin typeface="Times New Roman" panose="02020603050405020304" pitchFamily="18" charset="0"/>
                <a:cs typeface="Times New Roman" panose="02020603050405020304" pitchFamily="18" charset="0"/>
              </a:rPr>
              <a:t>. Instead, </a:t>
            </a:r>
            <a:r>
              <a:rPr lang="en-US" b="1" i="0" dirty="0">
                <a:solidFill>
                  <a:srgbClr val="FFFFFF"/>
                </a:solidFill>
                <a:effectLst/>
                <a:latin typeface="Times New Roman" panose="02020603050405020304" pitchFamily="18" charset="0"/>
                <a:cs typeface="Times New Roman" panose="02020603050405020304" pitchFamily="18" charset="0"/>
              </a:rPr>
              <a:t>specific protocols </a:t>
            </a:r>
            <a:r>
              <a:rPr lang="en-US" b="0" i="0" dirty="0">
                <a:solidFill>
                  <a:srgbClr val="FFFFFF"/>
                </a:solidFill>
                <a:effectLst/>
                <a:latin typeface="Times New Roman" panose="02020603050405020304" pitchFamily="18" charset="0"/>
                <a:cs typeface="Times New Roman" panose="02020603050405020304" pitchFamily="18" charset="0"/>
              </a:rPr>
              <a:t>and </a:t>
            </a:r>
            <a:r>
              <a:rPr lang="en-US" b="1" i="0" dirty="0">
                <a:solidFill>
                  <a:srgbClr val="FFFFFF"/>
                </a:solidFill>
                <a:effectLst/>
                <a:latin typeface="Times New Roman" panose="02020603050405020304" pitchFamily="18" charset="0"/>
                <a:cs typeface="Times New Roman" panose="02020603050405020304" pitchFamily="18" charset="0"/>
              </a:rPr>
              <a:t>technologies </a:t>
            </a:r>
            <a:r>
              <a:rPr lang="en-US" b="0" i="0" dirty="0">
                <a:solidFill>
                  <a:srgbClr val="FFFFFF"/>
                </a:solidFill>
                <a:effectLst/>
                <a:latin typeface="Times New Roman" panose="02020603050405020304" pitchFamily="18" charset="0"/>
                <a:cs typeface="Times New Roman" panose="02020603050405020304" pitchFamily="18" charset="0"/>
              </a:rPr>
              <a:t>are often designed based on the principles outlined in the </a:t>
            </a:r>
            <a:r>
              <a:rPr lang="en-US" b="1" i="0" dirty="0">
                <a:solidFill>
                  <a:srgbClr val="FFFFFF"/>
                </a:solidFill>
                <a:effectLst/>
                <a:latin typeface="Times New Roman" panose="02020603050405020304" pitchFamily="18" charset="0"/>
                <a:cs typeface="Times New Roman" panose="02020603050405020304" pitchFamily="18" charset="0"/>
              </a:rPr>
              <a:t>OSI model </a:t>
            </a:r>
            <a:r>
              <a:rPr lang="en-US" b="0" i="0" dirty="0">
                <a:solidFill>
                  <a:srgbClr val="FFFFFF"/>
                </a:solidFill>
                <a:effectLst/>
                <a:latin typeface="Times New Roman" panose="02020603050405020304" pitchFamily="18" charset="0"/>
                <a:cs typeface="Times New Roman" panose="02020603050405020304" pitchFamily="18" charset="0"/>
              </a:rPr>
              <a:t>to facilitate efficient data transmission and networking operations</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7531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41A6A-CAE2-1C16-A773-8D75C6003C9A}"/>
              </a:ext>
            </a:extLst>
          </p:cNvPr>
          <p:cNvSpPr>
            <a:spLocks noGrp="1"/>
          </p:cNvSpPr>
          <p:nvPr>
            <p:ph type="title"/>
          </p:nvPr>
        </p:nvSpPr>
        <p:spPr>
          <a:xfrm>
            <a:off x="587478" y="381000"/>
            <a:ext cx="3680885" cy="1371600"/>
          </a:xfrm>
        </p:spPr>
        <p:txBody>
          <a:bodyPr>
            <a:normAutofit/>
          </a:bodyPr>
          <a:lstStyle/>
          <a:p>
            <a:r>
              <a:rPr lang="en-US" sz="2800" b="1" dirty="0">
                <a:latin typeface="Times New Roman" panose="02020603050405020304" pitchFamily="18" charset="0"/>
                <a:cs typeface="Times New Roman" panose="02020603050405020304" pitchFamily="18" charset="0"/>
              </a:rPr>
              <a:t>Layers of OSI model</a:t>
            </a:r>
            <a:endParaRPr lang="en-IN" sz="28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A6219ADB-BDA5-3AAC-BD9F-295868D2DF8B}"/>
              </a:ext>
            </a:extLst>
          </p:cNvPr>
          <p:cNvPicPr>
            <a:picLocks noGrp="1" noChangeAspect="1"/>
          </p:cNvPicPr>
          <p:nvPr>
            <p:ph idx="1"/>
          </p:nvPr>
        </p:nvPicPr>
        <p:blipFill>
          <a:blip r:embed="rId2"/>
          <a:stretch>
            <a:fillRect/>
          </a:stretch>
        </p:blipFill>
        <p:spPr>
          <a:xfrm>
            <a:off x="4784725" y="1611536"/>
            <a:ext cx="5195888" cy="4244528"/>
          </a:xfrm>
        </p:spPr>
      </p:pic>
      <p:sp>
        <p:nvSpPr>
          <p:cNvPr id="4" name="Text Placeholder 3">
            <a:extLst>
              <a:ext uri="{FF2B5EF4-FFF2-40B4-BE49-F238E27FC236}">
                <a16:creationId xmlns:a16="http://schemas.microsoft.com/office/drawing/2014/main" id="{48EFBE46-FCA9-E15E-0BEF-2EA717CE0E1C}"/>
              </a:ext>
            </a:extLst>
          </p:cNvPr>
          <p:cNvSpPr>
            <a:spLocks noGrp="1"/>
          </p:cNvSpPr>
          <p:nvPr>
            <p:ph type="body" sz="half" idx="2"/>
          </p:nvPr>
        </p:nvSpPr>
        <p:spPr>
          <a:xfrm>
            <a:off x="587478" y="2497394"/>
            <a:ext cx="3680885" cy="3293806"/>
          </a:xfrm>
        </p:spPr>
        <p:txBody>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Layer 7:  Application</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Layer 6 : Presentation </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Layer 5 : Session</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Layer 4 : Transport</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Layer 3 : Network</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Layer 2 : Data Link</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Layer 1 : Physical</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705284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B6CE1-A8D4-AF71-8998-7EAABD93CA3A}"/>
              </a:ext>
            </a:extLst>
          </p:cNvPr>
          <p:cNvSpPr>
            <a:spLocks noGrp="1"/>
          </p:cNvSpPr>
          <p:nvPr>
            <p:ph type="title"/>
          </p:nvPr>
        </p:nvSpPr>
        <p:spPr>
          <a:xfrm>
            <a:off x="803788" y="392198"/>
            <a:ext cx="10131425" cy="1456267"/>
          </a:xfrm>
        </p:spPr>
        <p:txBody>
          <a:bodyPr>
            <a:normAutofit/>
          </a:bodyPr>
          <a:lstStyle/>
          <a:p>
            <a:r>
              <a:rPr lang="en-US" sz="2800" b="1" dirty="0">
                <a:latin typeface="Times New Roman" panose="02020603050405020304" pitchFamily="18" charset="0"/>
                <a:cs typeface="Times New Roman" panose="02020603050405020304" pitchFamily="18" charset="0"/>
              </a:rPr>
              <a:t>Application layer</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1F309F-80EF-56CA-7BBE-839FDB8FE812}"/>
              </a:ext>
            </a:extLst>
          </p:cNvPr>
          <p:cNvSpPr>
            <a:spLocks noGrp="1"/>
          </p:cNvSpPr>
          <p:nvPr>
            <p:ph idx="1"/>
          </p:nvPr>
        </p:nvSpPr>
        <p:spPr>
          <a:xfrm>
            <a:off x="685801" y="1848465"/>
            <a:ext cx="10131425" cy="4876800"/>
          </a:xfrm>
        </p:spPr>
        <p:txBody>
          <a:bodyPr>
            <a:normAutofit/>
          </a:bodyPr>
          <a:lstStyle/>
          <a:p>
            <a:pPr algn="just" rtl="0" fontAlgn="base">
              <a:buFont typeface="Wingdings" panose="05000000000000000000" pitchFamily="2" charset="2"/>
              <a:buChar char="Ø"/>
            </a:pPr>
            <a:r>
              <a:rPr lang="en-US" sz="1500" b="0" i="0" dirty="0">
                <a:solidFill>
                  <a:srgbClr val="FFFFFF"/>
                </a:solidFill>
                <a:effectLst/>
                <a:latin typeface="Times New Roman" panose="02020603050405020304" pitchFamily="18" charset="0"/>
                <a:cs typeface="Times New Roman" panose="02020603050405020304" pitchFamily="18" charset="0"/>
              </a:rPr>
              <a:t>At the very top of the OSI Reference Model stack of layers, we find the Application layer which is implemented by the network applications. These applications produce the data to be transferred over the network. This layer also serves as a window for the application services to access the network and for displaying the received information to the user.</a:t>
            </a:r>
          </a:p>
          <a:p>
            <a:pPr algn="just" rtl="0" fontAlgn="base">
              <a:buFont typeface="Wingdings" panose="05000000000000000000" pitchFamily="2" charset="2"/>
              <a:buChar char="Ø"/>
            </a:pPr>
            <a:r>
              <a:rPr lang="en-US" sz="1500" b="1" i="0" dirty="0">
                <a:solidFill>
                  <a:srgbClr val="FFFFFF"/>
                </a:solidFill>
                <a:effectLst/>
                <a:latin typeface="Times New Roman" panose="02020603050405020304" pitchFamily="18" charset="0"/>
                <a:cs typeface="Times New Roman" panose="02020603050405020304" pitchFamily="18" charset="0"/>
              </a:rPr>
              <a:t>Example </a:t>
            </a:r>
            <a:r>
              <a:rPr lang="en-US" sz="1500" b="0" i="0" dirty="0">
                <a:solidFill>
                  <a:srgbClr val="FFFFFF"/>
                </a:solidFill>
                <a:effectLst/>
                <a:latin typeface="Times New Roman" panose="02020603050405020304" pitchFamily="18" charset="0"/>
                <a:cs typeface="Times New Roman" panose="02020603050405020304" pitchFamily="18" charset="0"/>
              </a:rPr>
              <a:t>: Application – Browsers, </a:t>
            </a:r>
            <a:r>
              <a:rPr lang="en-US" sz="1500" b="0" i="0" u="sng" dirty="0">
                <a:solidFill>
                  <a:srgbClr val="FFFFFF"/>
                </a:solidFill>
                <a:effectLst/>
                <a:latin typeface="Times New Roman" panose="02020603050405020304" pitchFamily="18" charset="0"/>
                <a:cs typeface="Times New Roman" panose="02020603050405020304" pitchFamily="18" charset="0"/>
                <a:hlinkClick r:id="rId2"/>
              </a:rPr>
              <a:t>Skype </a:t>
            </a:r>
            <a:r>
              <a:rPr lang="en-US" sz="1500" b="0" i="0" dirty="0">
                <a:solidFill>
                  <a:srgbClr val="FFFFFF"/>
                </a:solidFill>
                <a:effectLst/>
                <a:latin typeface="Times New Roman" panose="02020603050405020304" pitchFamily="18" charset="0"/>
                <a:cs typeface="Times New Roman" panose="02020603050405020304" pitchFamily="18" charset="0"/>
              </a:rPr>
              <a:t>Messenger, etc.</a:t>
            </a:r>
          </a:p>
          <a:p>
            <a:pPr algn="l" fontAlgn="base">
              <a:buFont typeface="Wingdings" panose="05000000000000000000" pitchFamily="2" charset="2"/>
              <a:buChar char="Ø"/>
            </a:pPr>
            <a:r>
              <a:rPr lang="en-US" sz="1500" b="1" i="0" dirty="0">
                <a:solidFill>
                  <a:srgbClr val="FFFFFF"/>
                </a:solidFill>
                <a:effectLst/>
                <a:latin typeface="Times New Roman" panose="02020603050405020304" pitchFamily="18" charset="0"/>
                <a:cs typeface="Times New Roman" panose="02020603050405020304" pitchFamily="18" charset="0"/>
              </a:rPr>
              <a:t>Functions of the Application Layer</a:t>
            </a:r>
            <a:endParaRPr lang="en-US" sz="1500" b="0" i="0" dirty="0">
              <a:solidFill>
                <a:srgbClr val="FFFFFF"/>
              </a:solidFill>
              <a:effectLst/>
              <a:latin typeface="Times New Roman" panose="02020603050405020304" pitchFamily="18" charset="0"/>
              <a:cs typeface="Times New Roman" panose="02020603050405020304" pitchFamily="18" charset="0"/>
            </a:endParaRPr>
          </a:p>
          <a:p>
            <a:pPr algn="l" fontAlgn="base">
              <a:buFont typeface="Wingdings" panose="05000000000000000000" pitchFamily="2" charset="2"/>
              <a:buChar char="Ø"/>
            </a:pPr>
            <a:r>
              <a:rPr lang="en-US" sz="1500" b="1" i="0" dirty="0">
                <a:solidFill>
                  <a:srgbClr val="FFFFFF"/>
                </a:solidFill>
                <a:effectLst/>
                <a:latin typeface="Times New Roman" panose="02020603050405020304" pitchFamily="18" charset="0"/>
                <a:cs typeface="Times New Roman" panose="02020603050405020304" pitchFamily="18" charset="0"/>
              </a:rPr>
              <a:t>Network Virtual Terminal(NVT): </a:t>
            </a:r>
            <a:r>
              <a:rPr lang="en-US" sz="1500" b="0" i="0" dirty="0">
                <a:solidFill>
                  <a:srgbClr val="FFFFFF"/>
                </a:solidFill>
                <a:effectLst/>
                <a:latin typeface="Times New Roman" panose="02020603050405020304" pitchFamily="18" charset="0"/>
                <a:cs typeface="Times New Roman" panose="02020603050405020304" pitchFamily="18" charset="0"/>
              </a:rPr>
              <a:t>It allows a user to log on to a remote host.</a:t>
            </a:r>
          </a:p>
          <a:p>
            <a:pPr algn="l" fontAlgn="base">
              <a:buFont typeface="Wingdings" panose="05000000000000000000" pitchFamily="2" charset="2"/>
              <a:buChar char="Ø"/>
            </a:pPr>
            <a:r>
              <a:rPr lang="en-US" sz="1500" b="1" i="0" dirty="0">
                <a:solidFill>
                  <a:srgbClr val="FFFFFF"/>
                </a:solidFill>
                <a:effectLst/>
                <a:latin typeface="Times New Roman" panose="02020603050405020304" pitchFamily="18" charset="0"/>
                <a:cs typeface="Times New Roman" panose="02020603050405020304" pitchFamily="18" charset="0"/>
              </a:rPr>
              <a:t>File Transfer Access and Management(FTAM): </a:t>
            </a:r>
            <a:r>
              <a:rPr lang="en-US" sz="1500" b="0" i="0" dirty="0">
                <a:solidFill>
                  <a:srgbClr val="FFFFFF"/>
                </a:solidFill>
                <a:effectLst/>
                <a:latin typeface="Times New Roman" panose="02020603050405020304" pitchFamily="18" charset="0"/>
                <a:cs typeface="Times New Roman" panose="02020603050405020304" pitchFamily="18" charset="0"/>
              </a:rPr>
              <a:t>This application allows a user to</a:t>
            </a:r>
            <a:br>
              <a:rPr lang="en-US" sz="1500" b="0" i="0" dirty="0">
                <a:solidFill>
                  <a:srgbClr val="FFFFFF"/>
                </a:solidFill>
                <a:effectLst/>
                <a:latin typeface="Times New Roman" panose="02020603050405020304" pitchFamily="18" charset="0"/>
                <a:cs typeface="Times New Roman" panose="02020603050405020304" pitchFamily="18" charset="0"/>
              </a:rPr>
            </a:br>
            <a:r>
              <a:rPr lang="en-US" sz="1500" b="0" i="0" dirty="0">
                <a:solidFill>
                  <a:srgbClr val="FFFFFF"/>
                </a:solidFill>
                <a:effectLst/>
                <a:latin typeface="Times New Roman" panose="02020603050405020304" pitchFamily="18" charset="0"/>
                <a:cs typeface="Times New Roman" panose="02020603050405020304" pitchFamily="18" charset="0"/>
              </a:rPr>
              <a:t>access files in a remote host, retrieve files in a remote host, and manage or</a:t>
            </a:r>
            <a:br>
              <a:rPr lang="en-US" sz="1500" b="0" i="0" dirty="0">
                <a:solidFill>
                  <a:srgbClr val="FFFFFF"/>
                </a:solidFill>
                <a:effectLst/>
                <a:latin typeface="Times New Roman" panose="02020603050405020304" pitchFamily="18" charset="0"/>
                <a:cs typeface="Times New Roman" panose="02020603050405020304" pitchFamily="18" charset="0"/>
              </a:rPr>
            </a:br>
            <a:r>
              <a:rPr lang="en-US" sz="1500" b="0" i="0" dirty="0">
                <a:solidFill>
                  <a:srgbClr val="FFFFFF"/>
                </a:solidFill>
                <a:effectLst/>
                <a:latin typeface="Times New Roman" panose="02020603050405020304" pitchFamily="18" charset="0"/>
                <a:cs typeface="Times New Roman" panose="02020603050405020304" pitchFamily="18" charset="0"/>
              </a:rPr>
              <a:t>control files from a remote computer.</a:t>
            </a:r>
          </a:p>
          <a:p>
            <a:pPr algn="l" fontAlgn="base">
              <a:buFont typeface="Wingdings" panose="05000000000000000000" pitchFamily="2" charset="2"/>
              <a:buChar char="Ø"/>
            </a:pPr>
            <a:r>
              <a:rPr lang="en-US" sz="1500" b="1" i="0" dirty="0">
                <a:solidFill>
                  <a:srgbClr val="FFFFFF"/>
                </a:solidFill>
                <a:effectLst/>
                <a:latin typeface="Times New Roman" panose="02020603050405020304" pitchFamily="18" charset="0"/>
                <a:cs typeface="Times New Roman" panose="02020603050405020304" pitchFamily="18" charset="0"/>
              </a:rPr>
              <a:t>Mail Services: </a:t>
            </a:r>
            <a:r>
              <a:rPr lang="en-US" sz="1500" b="0" i="0" dirty="0">
                <a:solidFill>
                  <a:srgbClr val="FFFFFF"/>
                </a:solidFill>
                <a:effectLst/>
                <a:latin typeface="Times New Roman" panose="02020603050405020304" pitchFamily="18" charset="0"/>
                <a:cs typeface="Times New Roman" panose="02020603050405020304" pitchFamily="18" charset="0"/>
              </a:rPr>
              <a:t>Provide email service.</a:t>
            </a:r>
          </a:p>
          <a:p>
            <a:pPr algn="l" fontAlgn="base">
              <a:buFont typeface="Wingdings" panose="05000000000000000000" pitchFamily="2" charset="2"/>
              <a:buChar char="Ø"/>
            </a:pPr>
            <a:r>
              <a:rPr lang="en-US" sz="1500" b="1" i="0" dirty="0">
                <a:solidFill>
                  <a:srgbClr val="FFFFFF"/>
                </a:solidFill>
                <a:effectLst/>
                <a:latin typeface="Times New Roman" panose="02020603050405020304" pitchFamily="18" charset="0"/>
                <a:cs typeface="Times New Roman" panose="02020603050405020304" pitchFamily="18" charset="0"/>
              </a:rPr>
              <a:t>Directory Services: </a:t>
            </a:r>
            <a:r>
              <a:rPr lang="en-US" sz="1500" b="0" i="0" dirty="0">
                <a:solidFill>
                  <a:srgbClr val="FFFFFF"/>
                </a:solidFill>
                <a:effectLst/>
                <a:latin typeface="Times New Roman" panose="02020603050405020304" pitchFamily="18" charset="0"/>
                <a:cs typeface="Times New Roman" panose="02020603050405020304" pitchFamily="18" charset="0"/>
              </a:rPr>
              <a:t>This application provides distributed database sources</a:t>
            </a:r>
            <a:br>
              <a:rPr lang="en-US" sz="1500" b="0" i="0" dirty="0">
                <a:solidFill>
                  <a:srgbClr val="FFFFFF"/>
                </a:solidFill>
                <a:effectLst/>
                <a:latin typeface="Times New Roman" panose="02020603050405020304" pitchFamily="18" charset="0"/>
                <a:cs typeface="Times New Roman" panose="02020603050405020304" pitchFamily="18" charset="0"/>
              </a:rPr>
            </a:br>
            <a:r>
              <a:rPr lang="en-US" sz="1500" b="0" i="0" dirty="0">
                <a:solidFill>
                  <a:srgbClr val="FFFFFF"/>
                </a:solidFill>
                <a:effectLst/>
                <a:latin typeface="Times New Roman" panose="02020603050405020304" pitchFamily="18" charset="0"/>
                <a:cs typeface="Times New Roman" panose="02020603050405020304" pitchFamily="18" charset="0"/>
              </a:rPr>
              <a:t>and access for global information about various objects and services.</a:t>
            </a:r>
          </a:p>
          <a:p>
            <a:pPr>
              <a:buFont typeface="Wingdings" panose="05000000000000000000" pitchFamily="2" charset="2"/>
              <a:buChar char="Ø"/>
            </a:pPr>
            <a:endParaRPr lang="en-US" sz="1500" dirty="0">
              <a:latin typeface="Times New Roman" panose="02020603050405020304" pitchFamily="18" charset="0"/>
              <a:cs typeface="Times New Roman" panose="02020603050405020304" pitchFamily="18" charset="0"/>
            </a:endParaRPr>
          </a:p>
          <a:p>
            <a:endParaRPr lang="en-IN" sz="1400" dirty="0"/>
          </a:p>
        </p:txBody>
      </p:sp>
    </p:spTree>
    <p:extLst>
      <p:ext uri="{BB962C8B-B14F-4D97-AF65-F5344CB8AC3E}">
        <p14:creationId xmlns:p14="http://schemas.microsoft.com/office/powerpoint/2010/main" val="724378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2F7E-9152-AEF1-2A60-EDE17D9B498D}"/>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Presentation layer</a:t>
            </a:r>
            <a:endParaRPr lang="en-IN" sz="2800"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6435151E-B0CD-21EF-68B1-AAC617C5C274}"/>
              </a:ext>
            </a:extLst>
          </p:cNvPr>
          <p:cNvSpPr>
            <a:spLocks noGrp="1"/>
          </p:cNvSpPr>
          <p:nvPr>
            <p:ph idx="1"/>
          </p:nvPr>
        </p:nvSpPr>
        <p:spPr/>
        <p:txBody>
          <a:bodyPr>
            <a:normAutofit/>
          </a:bodyPr>
          <a:lstStyle/>
          <a:p>
            <a:pPr marL="342900" indent="-342900" algn="just" rtl="0" fontAlgn="base">
              <a:buFont typeface="Wingdings" panose="05000000000000000000" pitchFamily="2" charset="2"/>
              <a:buChar char="Ø"/>
            </a:pPr>
            <a:r>
              <a:rPr lang="en-US" sz="2000" b="0" i="0" dirty="0">
                <a:solidFill>
                  <a:srgbClr val="FFFFFF"/>
                </a:solidFill>
                <a:effectLst/>
                <a:latin typeface="Times New Roman" panose="02020603050405020304" pitchFamily="18" charset="0"/>
                <a:cs typeface="Times New Roman" panose="02020603050405020304" pitchFamily="18" charset="0"/>
              </a:rPr>
              <a:t>The presentation layer is also called the </a:t>
            </a:r>
            <a:r>
              <a:rPr lang="en-US" sz="2000" b="1" i="0" dirty="0">
                <a:solidFill>
                  <a:srgbClr val="FFFFFF"/>
                </a:solidFill>
                <a:effectLst/>
                <a:latin typeface="Times New Roman" panose="02020603050405020304" pitchFamily="18" charset="0"/>
                <a:cs typeface="Times New Roman" panose="02020603050405020304" pitchFamily="18" charset="0"/>
              </a:rPr>
              <a:t>Translation layer </a:t>
            </a:r>
            <a:r>
              <a:rPr lang="en-US" sz="2000" b="0" i="0" dirty="0">
                <a:solidFill>
                  <a:srgbClr val="FFFFFF"/>
                </a:solidFill>
                <a:effectLst/>
                <a:latin typeface="Times New Roman" panose="02020603050405020304" pitchFamily="18" charset="0"/>
                <a:cs typeface="Times New Roman" panose="02020603050405020304" pitchFamily="18" charset="0"/>
              </a:rPr>
              <a:t>. The data from the application layer is extracted here and manipulated as per the required format to transmit over the network.</a:t>
            </a:r>
          </a:p>
          <a:p>
            <a:pPr marL="342900" indent="-342900" algn="l" fontAlgn="base">
              <a:buFont typeface="Wingdings" panose="05000000000000000000" pitchFamily="2" charset="2"/>
              <a:buChar char="Ø"/>
            </a:pPr>
            <a:r>
              <a:rPr lang="en-US" sz="2000" b="1" i="0" dirty="0">
                <a:solidFill>
                  <a:srgbClr val="FFFFFF"/>
                </a:solidFill>
                <a:effectLst/>
                <a:latin typeface="Times New Roman" panose="02020603050405020304" pitchFamily="18" charset="0"/>
                <a:cs typeface="Times New Roman" panose="02020603050405020304" pitchFamily="18" charset="0"/>
              </a:rPr>
              <a:t>Functions of the Presentation Layer</a:t>
            </a:r>
          </a:p>
          <a:p>
            <a:pPr marL="342900" indent="-342900" algn="l" fontAlgn="base">
              <a:buFont typeface="Wingdings" panose="05000000000000000000" pitchFamily="2" charset="2"/>
              <a:buChar char="Ø"/>
            </a:pPr>
            <a:r>
              <a:rPr lang="en-US" sz="2000" b="1" i="0" dirty="0">
                <a:solidFill>
                  <a:srgbClr val="FFFFFF"/>
                </a:solidFill>
                <a:effectLst/>
                <a:latin typeface="Times New Roman" panose="02020603050405020304" pitchFamily="18" charset="0"/>
                <a:cs typeface="Times New Roman" panose="02020603050405020304" pitchFamily="18" charset="0"/>
              </a:rPr>
              <a:t>Translation: </a:t>
            </a:r>
            <a:r>
              <a:rPr lang="en-US" sz="2000" b="0" i="0" dirty="0">
                <a:solidFill>
                  <a:srgbClr val="FFFFFF"/>
                </a:solidFill>
                <a:effectLst/>
                <a:latin typeface="Times New Roman" panose="02020603050405020304" pitchFamily="18" charset="0"/>
                <a:cs typeface="Times New Roman" panose="02020603050405020304" pitchFamily="18" charset="0"/>
              </a:rPr>
              <a:t>For example, </a:t>
            </a:r>
            <a:r>
              <a:rPr lang="en-US" sz="2000" b="0" i="0" u="sng" dirty="0">
                <a:solidFill>
                  <a:srgbClr val="FFFFFF"/>
                </a:solidFill>
                <a:effectLst/>
                <a:latin typeface="Times New Roman" panose="02020603050405020304" pitchFamily="18" charset="0"/>
                <a:cs typeface="Times New Roman" panose="02020603050405020304" pitchFamily="18" charset="0"/>
                <a:hlinkClick r:id="rId2"/>
              </a:rPr>
              <a:t>ASCII to EBCDIC </a:t>
            </a:r>
            <a:r>
              <a:rPr lang="en-US" sz="2000" b="0" i="0" dirty="0">
                <a:solidFill>
                  <a:srgbClr val="FFFFFF"/>
                </a:solidFill>
                <a:effectLst/>
                <a:latin typeface="Times New Roman" panose="02020603050405020304" pitchFamily="18" charset="0"/>
                <a:cs typeface="Times New Roman" panose="02020603050405020304" pitchFamily="18" charset="0"/>
              </a:rPr>
              <a:t>.</a:t>
            </a:r>
          </a:p>
          <a:p>
            <a:pPr marL="342900" indent="-342900" algn="l" fontAlgn="base">
              <a:buFont typeface="Wingdings" panose="05000000000000000000" pitchFamily="2" charset="2"/>
              <a:buChar char="Ø"/>
            </a:pPr>
            <a:r>
              <a:rPr lang="en-US" sz="2000" b="1" i="0" dirty="0">
                <a:solidFill>
                  <a:srgbClr val="FFFFFF"/>
                </a:solidFill>
                <a:effectLst/>
                <a:latin typeface="Times New Roman" panose="02020603050405020304" pitchFamily="18" charset="0"/>
                <a:cs typeface="Times New Roman" panose="02020603050405020304" pitchFamily="18" charset="0"/>
              </a:rPr>
              <a:t>Encryption/ Decryption: </a:t>
            </a:r>
            <a:r>
              <a:rPr lang="en-US" sz="2000" b="0" i="0" dirty="0">
                <a:solidFill>
                  <a:srgbClr val="FFFFFF"/>
                </a:solidFill>
                <a:effectLst/>
                <a:latin typeface="Times New Roman" panose="02020603050405020304" pitchFamily="18" charset="0"/>
                <a:cs typeface="Times New Roman" panose="02020603050405020304" pitchFamily="18" charset="0"/>
              </a:rPr>
              <a:t>Data encryption translates the data into another form or code. The encrypted data is known as the ciphertext and the decrypted data is known as plain text. A key value is used for encrypting as well as decrypting data.</a:t>
            </a:r>
          </a:p>
          <a:p>
            <a:pPr marL="342900" indent="-342900" algn="l" fontAlgn="base">
              <a:buFont typeface="Wingdings" panose="05000000000000000000" pitchFamily="2" charset="2"/>
              <a:buChar char="Ø"/>
            </a:pPr>
            <a:r>
              <a:rPr lang="en-US" sz="2000" b="1" i="0" dirty="0">
                <a:solidFill>
                  <a:srgbClr val="FFFFFF"/>
                </a:solidFill>
                <a:effectLst/>
                <a:latin typeface="Times New Roman" panose="02020603050405020304" pitchFamily="18" charset="0"/>
                <a:cs typeface="Times New Roman" panose="02020603050405020304" pitchFamily="18" charset="0"/>
              </a:rPr>
              <a:t>Compression: </a:t>
            </a:r>
            <a:r>
              <a:rPr lang="en-US" sz="2000" b="0" i="0" dirty="0">
                <a:solidFill>
                  <a:srgbClr val="FFFFFF"/>
                </a:solidFill>
                <a:effectLst/>
                <a:latin typeface="Times New Roman" panose="02020603050405020304" pitchFamily="18" charset="0"/>
                <a:cs typeface="Times New Roman" panose="02020603050405020304" pitchFamily="18" charset="0"/>
              </a:rPr>
              <a:t>Reduces the number of bits that need to be transmitted on the network.</a:t>
            </a:r>
          </a:p>
          <a:p>
            <a:pPr marL="342900" indent="-342900" algn="just" rtl="0" fontAlgn="base">
              <a:buFont typeface="Wingdings" panose="05000000000000000000" pitchFamily="2" charset="2"/>
              <a:buChar char="Ø"/>
            </a:pPr>
            <a:r>
              <a:rPr lang="en-US" sz="2000" b="0" i="0" dirty="0">
                <a:solidFill>
                  <a:srgbClr val="FFFFFF"/>
                </a:solidFill>
                <a:effectLst/>
                <a:latin typeface="Times New Roman" panose="02020603050405020304" pitchFamily="18" charset="0"/>
                <a:cs typeface="Times New Roman" panose="02020603050405020304" pitchFamily="18" charset="0"/>
              </a:rPr>
              <a:t>Note: </a:t>
            </a:r>
            <a:r>
              <a:rPr lang="en-US" sz="2000" b="1" i="0" dirty="0">
                <a:solidFill>
                  <a:srgbClr val="FFFFFF"/>
                </a:solidFill>
                <a:effectLst/>
                <a:latin typeface="Times New Roman" panose="02020603050405020304" pitchFamily="18" charset="0"/>
                <a:cs typeface="Times New Roman" panose="02020603050405020304" pitchFamily="18" charset="0"/>
              </a:rPr>
              <a:t>Device or Protocol Use: </a:t>
            </a:r>
            <a:r>
              <a:rPr lang="en-US" sz="2000" b="0" i="0" dirty="0">
                <a:solidFill>
                  <a:srgbClr val="FFFFFF"/>
                </a:solidFill>
                <a:effectLst/>
                <a:latin typeface="Times New Roman" panose="02020603050405020304" pitchFamily="18" charset="0"/>
                <a:cs typeface="Times New Roman" panose="02020603050405020304" pitchFamily="18" charset="0"/>
              </a:rPr>
              <a:t>JPEG, MPEG, GIF.</a:t>
            </a:r>
          </a:p>
          <a:p>
            <a:pPr marL="285750" indent="-285750">
              <a:buFont typeface="Wingdings" panose="05000000000000000000" pitchFamily="2" charset="2"/>
              <a:buChar char="Ø"/>
            </a:pPr>
            <a:endParaRPr lang="en-IN" sz="1800" dirty="0"/>
          </a:p>
        </p:txBody>
      </p:sp>
    </p:spTree>
    <p:extLst>
      <p:ext uri="{BB962C8B-B14F-4D97-AF65-F5344CB8AC3E}">
        <p14:creationId xmlns:p14="http://schemas.microsoft.com/office/powerpoint/2010/main" val="3884327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10CD0-9670-79FD-C703-A3D44A339D41}"/>
              </a:ext>
            </a:extLst>
          </p:cNvPr>
          <p:cNvSpPr>
            <a:spLocks noGrp="1"/>
          </p:cNvSpPr>
          <p:nvPr>
            <p:ph type="title"/>
          </p:nvPr>
        </p:nvSpPr>
        <p:spPr>
          <a:xfrm>
            <a:off x="685799" y="609601"/>
            <a:ext cx="3680885" cy="658762"/>
          </a:xfrm>
        </p:spPr>
        <p:txBody>
          <a:bodyPr/>
          <a:lstStyle/>
          <a:p>
            <a:r>
              <a:rPr lang="en-US" b="1" dirty="0">
                <a:latin typeface="Times New Roman" panose="02020603050405020304" pitchFamily="18" charset="0"/>
                <a:cs typeface="Times New Roman" panose="02020603050405020304" pitchFamily="18" charset="0"/>
              </a:rPr>
              <a:t>Session layer</a:t>
            </a:r>
            <a:endParaRPr lang="en-IN"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AF7F8B10-61BA-046C-D284-A543563DE46E}"/>
              </a:ext>
            </a:extLst>
          </p:cNvPr>
          <p:cNvSpPr>
            <a:spLocks noGrp="1"/>
          </p:cNvSpPr>
          <p:nvPr>
            <p:ph idx="1"/>
          </p:nvPr>
        </p:nvSpPr>
        <p:spPr>
          <a:xfrm>
            <a:off x="5319251" y="688257"/>
            <a:ext cx="5978014" cy="5102943"/>
          </a:xfrm>
        </p:spPr>
        <p:txBody>
          <a:bodyPr>
            <a:normAutofit/>
          </a:bodyPr>
          <a:lstStyle/>
          <a:p>
            <a:pPr marL="0" indent="0">
              <a:buNone/>
            </a:pPr>
            <a:endParaRPr lang="en-US" dirty="0"/>
          </a:p>
          <a:p>
            <a:endParaRPr lang="en-IN" dirty="0"/>
          </a:p>
        </p:txBody>
      </p:sp>
      <p:sp>
        <p:nvSpPr>
          <p:cNvPr id="9" name="Text Placeholder 8">
            <a:extLst>
              <a:ext uri="{FF2B5EF4-FFF2-40B4-BE49-F238E27FC236}">
                <a16:creationId xmlns:a16="http://schemas.microsoft.com/office/drawing/2014/main" id="{33843FA1-C4BC-0415-9C0C-B33161466B8E}"/>
              </a:ext>
            </a:extLst>
          </p:cNvPr>
          <p:cNvSpPr>
            <a:spLocks noGrp="1"/>
          </p:cNvSpPr>
          <p:nvPr>
            <p:ph type="body" sz="half" idx="2"/>
          </p:nvPr>
        </p:nvSpPr>
        <p:spPr>
          <a:xfrm>
            <a:off x="685800" y="1691148"/>
            <a:ext cx="4259826" cy="4208207"/>
          </a:xfrm>
        </p:spPr>
        <p:txBody>
          <a:bodyPr>
            <a:normAutofit lnSpcReduction="10000"/>
          </a:bodyPr>
          <a:lstStyle/>
          <a:p>
            <a:pPr marL="285750" indent="-285750" algn="just" rtl="0" fontAlgn="base">
              <a:buFont typeface="Wingdings" panose="05000000000000000000" pitchFamily="2" charset="2"/>
              <a:buChar char="Ø"/>
            </a:pPr>
            <a:r>
              <a:rPr lang="en-US" b="0" i="0" dirty="0">
                <a:solidFill>
                  <a:srgbClr val="FFFFFF"/>
                </a:solidFill>
                <a:effectLst/>
                <a:latin typeface="Nunito" pitchFamily="2" charset="0"/>
              </a:rPr>
              <a:t>This layer is responsible for the establishment of connection, maintenance of sessions, and authentication, and also ensures security.</a:t>
            </a:r>
          </a:p>
          <a:p>
            <a:pPr marL="285750" indent="-285750" algn="l" fontAlgn="base">
              <a:buFont typeface="Wingdings" panose="05000000000000000000" pitchFamily="2" charset="2"/>
              <a:buChar char="Ø"/>
            </a:pPr>
            <a:r>
              <a:rPr lang="en-US" b="1" i="0" dirty="0">
                <a:solidFill>
                  <a:srgbClr val="FFFFFF"/>
                </a:solidFill>
                <a:effectLst/>
                <a:latin typeface="Nunito" pitchFamily="2" charset="0"/>
              </a:rPr>
              <a:t>Functions of </a:t>
            </a:r>
            <a:r>
              <a:rPr lang="en-US" b="1" i="0" dirty="0">
                <a:solidFill>
                  <a:srgbClr val="FFFFFF"/>
                </a:solidFill>
                <a:effectLst/>
                <a:latin typeface="Times New Roman" panose="02020603050405020304" pitchFamily="18" charset="0"/>
                <a:cs typeface="Times New Roman" panose="02020603050405020304" pitchFamily="18" charset="0"/>
              </a:rPr>
              <a:t>the</a:t>
            </a:r>
            <a:r>
              <a:rPr lang="en-US" b="1" i="0" dirty="0">
                <a:solidFill>
                  <a:srgbClr val="FFFFFF"/>
                </a:solidFill>
                <a:effectLst/>
                <a:latin typeface="Nunito" pitchFamily="2" charset="0"/>
              </a:rPr>
              <a:t> Session Layer</a:t>
            </a:r>
          </a:p>
          <a:p>
            <a:pPr marL="285750" indent="-285750" algn="l" fontAlgn="base">
              <a:buFont typeface="Wingdings" panose="05000000000000000000" pitchFamily="2" charset="2"/>
              <a:buChar char="Ø"/>
            </a:pPr>
            <a:r>
              <a:rPr lang="en-US" b="1" i="0" dirty="0">
                <a:solidFill>
                  <a:srgbClr val="FFFFFF"/>
                </a:solidFill>
                <a:effectLst/>
                <a:latin typeface="Nunito" pitchFamily="2" charset="0"/>
              </a:rPr>
              <a:t>Session Establishment, Maintenance, and Termination: </a:t>
            </a:r>
            <a:r>
              <a:rPr lang="en-US" b="0" i="0" dirty="0">
                <a:solidFill>
                  <a:srgbClr val="FFFFFF"/>
                </a:solidFill>
                <a:effectLst/>
                <a:latin typeface="Nunito" pitchFamily="2" charset="0"/>
              </a:rPr>
              <a:t>The layer allows the two processes to establish, use, and terminate a connection.</a:t>
            </a:r>
          </a:p>
          <a:p>
            <a:pPr marL="285750" indent="-285750" algn="l" fontAlgn="base">
              <a:buFont typeface="Wingdings" panose="05000000000000000000" pitchFamily="2" charset="2"/>
              <a:buChar char="Ø"/>
            </a:pPr>
            <a:r>
              <a:rPr lang="en-US" b="1" i="0" dirty="0">
                <a:solidFill>
                  <a:srgbClr val="FFFFFF"/>
                </a:solidFill>
                <a:effectLst/>
                <a:latin typeface="Nunito" pitchFamily="2" charset="0"/>
              </a:rPr>
              <a:t>Synchronization: </a:t>
            </a:r>
            <a:r>
              <a:rPr lang="en-US" b="0" i="0" dirty="0">
                <a:solidFill>
                  <a:srgbClr val="FFFFFF"/>
                </a:solidFill>
                <a:effectLst/>
                <a:latin typeface="Nunito" pitchFamily="2" charset="0"/>
              </a:rPr>
              <a:t>This layer allows a process to add checkpoints that are considered synchronization points in the data. These synchronization points help to identify the error so that the data is re-synchronized properly, and ends of the messages are not cut prematurely and data loss is avoided.</a:t>
            </a:r>
          </a:p>
          <a:p>
            <a:pPr marL="285750" indent="-285750" algn="l" fontAlgn="base">
              <a:buFont typeface="Wingdings" panose="05000000000000000000" pitchFamily="2" charset="2"/>
              <a:buChar char="Ø"/>
            </a:pPr>
            <a:r>
              <a:rPr lang="en-US" b="1" i="0" dirty="0">
                <a:solidFill>
                  <a:srgbClr val="FFFFFF"/>
                </a:solidFill>
                <a:effectLst/>
                <a:latin typeface="Nunito" pitchFamily="2" charset="0"/>
              </a:rPr>
              <a:t>Dialog Controller: </a:t>
            </a:r>
            <a:r>
              <a:rPr lang="en-US" b="0" i="0" dirty="0">
                <a:solidFill>
                  <a:srgbClr val="FFFFFF"/>
                </a:solidFill>
                <a:effectLst/>
                <a:latin typeface="Nunito" pitchFamily="2" charset="0"/>
              </a:rPr>
              <a:t>The session layer allows two systems to start communication with each other in half-duplex or full-duplex.</a:t>
            </a:r>
          </a:p>
          <a:p>
            <a:endParaRPr lang="en-IN" dirty="0"/>
          </a:p>
        </p:txBody>
      </p:sp>
      <p:pic>
        <p:nvPicPr>
          <p:cNvPr id="11" name="Picture 10">
            <a:extLst>
              <a:ext uri="{FF2B5EF4-FFF2-40B4-BE49-F238E27FC236}">
                <a16:creationId xmlns:a16="http://schemas.microsoft.com/office/drawing/2014/main" id="{709DE8DB-BA9E-8BFC-1159-D12D264455E1}"/>
              </a:ext>
            </a:extLst>
          </p:cNvPr>
          <p:cNvPicPr>
            <a:picLocks noChangeAspect="1"/>
          </p:cNvPicPr>
          <p:nvPr/>
        </p:nvPicPr>
        <p:blipFill>
          <a:blip r:embed="rId2"/>
          <a:stretch>
            <a:fillRect/>
          </a:stretch>
        </p:blipFill>
        <p:spPr>
          <a:xfrm>
            <a:off x="5535561" y="1691148"/>
            <a:ext cx="6420466" cy="3932902"/>
          </a:xfrm>
          <a:prstGeom prst="rect">
            <a:avLst/>
          </a:prstGeom>
        </p:spPr>
      </p:pic>
      <p:sp>
        <p:nvSpPr>
          <p:cNvPr id="5" name="Rectangle: Rounded Corners 4">
            <a:extLst>
              <a:ext uri="{FF2B5EF4-FFF2-40B4-BE49-F238E27FC236}">
                <a16:creationId xmlns:a16="http://schemas.microsoft.com/office/drawing/2014/main" id="{35D58C4D-D6B0-6F7D-DE01-934B8AC6D627}"/>
              </a:ext>
            </a:extLst>
          </p:cNvPr>
          <p:cNvSpPr/>
          <p:nvPr/>
        </p:nvSpPr>
        <p:spPr>
          <a:xfrm>
            <a:off x="806245" y="1691148"/>
            <a:ext cx="5220929" cy="436552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35394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1FDE0-46FE-328C-BCE5-F4C11A267513}"/>
              </a:ext>
            </a:extLst>
          </p:cNvPr>
          <p:cNvSpPr>
            <a:spLocks noGrp="1"/>
          </p:cNvSpPr>
          <p:nvPr>
            <p:ph type="title"/>
          </p:nvPr>
        </p:nvSpPr>
        <p:spPr>
          <a:xfrm>
            <a:off x="685801" y="355055"/>
            <a:ext cx="10131425" cy="1456267"/>
          </a:xfrm>
        </p:spPr>
        <p:txBody>
          <a:bodyPr>
            <a:normAutofit/>
          </a:bodyPr>
          <a:lstStyle/>
          <a:p>
            <a:r>
              <a:rPr lang="en-US" sz="2800" b="1" dirty="0">
                <a:latin typeface="Times New Roman" panose="02020603050405020304" pitchFamily="18" charset="0"/>
                <a:cs typeface="Times New Roman" panose="02020603050405020304" pitchFamily="18" charset="0"/>
              </a:rPr>
              <a:t>Transport layer</a:t>
            </a:r>
            <a:endParaRPr lang="en-IN" sz="2800"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670C1D9C-359A-0305-4F6B-863345AFD44A}"/>
              </a:ext>
            </a:extLst>
          </p:cNvPr>
          <p:cNvSpPr>
            <a:spLocks noGrp="1"/>
          </p:cNvSpPr>
          <p:nvPr>
            <p:ph idx="1"/>
          </p:nvPr>
        </p:nvSpPr>
        <p:spPr>
          <a:xfrm>
            <a:off x="685801" y="1741403"/>
            <a:ext cx="10131425" cy="4305436"/>
          </a:xfrm>
        </p:spPr>
        <p:txBody>
          <a:bodyPr>
            <a:normAutofit/>
          </a:bodyPr>
          <a:lstStyle/>
          <a:p>
            <a:pPr algn="just" rtl="0" fontAlgn="base">
              <a:buFont typeface="Wingdings" panose="05000000000000000000" pitchFamily="2" charset="2"/>
              <a:buChar char="Ø"/>
            </a:pPr>
            <a:r>
              <a:rPr lang="en-US" b="0" i="0" dirty="0">
                <a:solidFill>
                  <a:srgbClr val="FFFFFF"/>
                </a:solidFill>
                <a:latin typeface="Times New Roman" panose="02020603050405020304" pitchFamily="18" charset="0"/>
                <a:cs typeface="Times New Roman" panose="02020603050405020304" pitchFamily="18" charset="0"/>
              </a:rPr>
              <a:t>The transport layer provides services to the application layer and takes services from the network layer. The data in the transport layer is referred to as </a:t>
            </a:r>
            <a:r>
              <a:rPr lang="en-US" b="0" i="1" dirty="0">
                <a:solidFill>
                  <a:srgbClr val="FFFFFF"/>
                </a:solidFill>
                <a:latin typeface="Times New Roman" panose="02020603050405020304" pitchFamily="18" charset="0"/>
                <a:cs typeface="Times New Roman" panose="02020603050405020304" pitchFamily="18" charset="0"/>
              </a:rPr>
              <a:t>Segments </a:t>
            </a:r>
            <a:r>
              <a:rPr lang="en-US" b="0" i="0" dirty="0">
                <a:solidFill>
                  <a:srgbClr val="FFFFFF"/>
                </a:solidFill>
                <a:latin typeface="Times New Roman" panose="02020603050405020304" pitchFamily="18" charset="0"/>
                <a:cs typeface="Times New Roman" panose="02020603050405020304" pitchFamily="18" charset="0"/>
              </a:rPr>
              <a:t>. It is responsible for the end-to-end delivery of the complete message. The transport layer also provides the acknowledgment of the successful data transmission and re-transmits the data if an error is found.</a:t>
            </a:r>
          </a:p>
          <a:p>
            <a:pPr algn="just" rtl="0" fontAlgn="base">
              <a:buFont typeface="Wingdings" panose="05000000000000000000" pitchFamily="2" charset="2"/>
              <a:buChar char="Ø"/>
            </a:pPr>
            <a:r>
              <a:rPr lang="en-US" b="1" i="0" dirty="0">
                <a:solidFill>
                  <a:srgbClr val="FFFFFF"/>
                </a:solidFill>
                <a:latin typeface="Times New Roman" panose="02020603050405020304" pitchFamily="18" charset="0"/>
                <a:cs typeface="Times New Roman" panose="02020603050405020304" pitchFamily="18" charset="0"/>
              </a:rPr>
              <a:t>At the sender’s side: </a:t>
            </a:r>
            <a:r>
              <a:rPr lang="en-US" b="0" i="0" dirty="0">
                <a:solidFill>
                  <a:srgbClr val="FFFFFF"/>
                </a:solidFill>
                <a:latin typeface="Times New Roman" panose="02020603050405020304" pitchFamily="18" charset="0"/>
                <a:cs typeface="Times New Roman" panose="02020603050405020304" pitchFamily="18" charset="0"/>
              </a:rPr>
              <a:t>The transport layer receives the formatted data from the upper layers, performs </a:t>
            </a:r>
            <a:r>
              <a:rPr lang="en-US" b="1" i="0" dirty="0">
                <a:solidFill>
                  <a:srgbClr val="FFFFFF"/>
                </a:solidFill>
                <a:latin typeface="Times New Roman" panose="02020603050405020304" pitchFamily="18" charset="0"/>
                <a:cs typeface="Times New Roman" panose="02020603050405020304" pitchFamily="18" charset="0"/>
              </a:rPr>
              <a:t>Segmentation </a:t>
            </a:r>
            <a:r>
              <a:rPr lang="en-US" b="0" i="0" dirty="0">
                <a:solidFill>
                  <a:srgbClr val="FFFFFF"/>
                </a:solidFill>
                <a:latin typeface="Times New Roman" panose="02020603050405020304" pitchFamily="18" charset="0"/>
                <a:cs typeface="Times New Roman" panose="02020603050405020304" pitchFamily="18" charset="0"/>
              </a:rPr>
              <a:t>, and also implements </a:t>
            </a:r>
            <a:r>
              <a:rPr lang="en-US" b="1" i="0" dirty="0">
                <a:solidFill>
                  <a:srgbClr val="FFFFFF"/>
                </a:solidFill>
                <a:latin typeface="Times New Roman" panose="02020603050405020304" pitchFamily="18" charset="0"/>
                <a:cs typeface="Times New Roman" panose="02020603050405020304" pitchFamily="18" charset="0"/>
              </a:rPr>
              <a:t>Flow and error control </a:t>
            </a:r>
            <a:r>
              <a:rPr lang="en-US" b="0" i="0" dirty="0">
                <a:solidFill>
                  <a:srgbClr val="FFFFFF"/>
                </a:solidFill>
                <a:latin typeface="Times New Roman" panose="02020603050405020304" pitchFamily="18" charset="0"/>
                <a:cs typeface="Times New Roman" panose="02020603050405020304" pitchFamily="18" charset="0"/>
              </a:rPr>
              <a:t>to ensure proper data transmission. It also adds Source and Destination </a:t>
            </a:r>
            <a:r>
              <a:rPr lang="en-US" b="0" i="0" u="sng" dirty="0">
                <a:solidFill>
                  <a:srgbClr val="FFFFFF"/>
                </a:solidFill>
                <a:latin typeface="Times New Roman" panose="02020603050405020304" pitchFamily="18" charset="0"/>
                <a:cs typeface="Times New Roman" panose="02020603050405020304" pitchFamily="18" charset="0"/>
              </a:rPr>
              <a:t>port numbers </a:t>
            </a:r>
            <a:r>
              <a:rPr lang="en-US" b="0" i="0" dirty="0">
                <a:solidFill>
                  <a:srgbClr val="FFFFFF"/>
                </a:solidFill>
                <a:latin typeface="Times New Roman" panose="02020603050405020304" pitchFamily="18" charset="0"/>
                <a:cs typeface="Times New Roman" panose="02020603050405020304" pitchFamily="18" charset="0"/>
              </a:rPr>
              <a:t>in its header and forwards the segmented data to the Network Layer.</a:t>
            </a:r>
          </a:p>
          <a:p>
            <a:pPr algn="just" rtl="0" fontAlgn="base">
              <a:buFont typeface="Wingdings" panose="05000000000000000000" pitchFamily="2" charset="2"/>
              <a:buChar char="Ø"/>
            </a:pPr>
            <a:r>
              <a:rPr lang="en-US" b="1" i="0" dirty="0">
                <a:solidFill>
                  <a:srgbClr val="FFFFFF"/>
                </a:solidFill>
                <a:effectLst/>
                <a:latin typeface="Nunito" pitchFamily="2" charset="0"/>
              </a:rPr>
              <a:t>At the receiver’s side: </a:t>
            </a:r>
            <a:r>
              <a:rPr lang="en-US" b="0" i="0" dirty="0">
                <a:solidFill>
                  <a:srgbClr val="FFFFFF"/>
                </a:solidFill>
                <a:effectLst/>
                <a:latin typeface="Nunito" pitchFamily="2" charset="0"/>
              </a:rPr>
              <a:t>Transport Layer reads the port number from its header and forwards the Data which it has received to the respective application. It also performs sequencing and reassembling of the segmented data.</a:t>
            </a:r>
            <a:endParaRPr lang="en-US" b="0" i="0" dirty="0">
              <a:solidFill>
                <a:srgbClr val="FFFFFF"/>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p>
          <a:p>
            <a:pPr marL="285750" indent="-285750">
              <a:buFont typeface="Arial" panose="020B0604020202020204" pitchFamily="34" charset="0"/>
              <a:buChar char="•"/>
            </a:pPr>
            <a:endParaRPr lang="en-IN" dirty="0">
              <a:solidFill>
                <a:srgbClr val="FFFFFF"/>
              </a:solidFill>
              <a:highlight>
                <a:srgbClr val="131417"/>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5138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9D14-EC23-5FF7-B5A8-28AD2EA1D09D}"/>
              </a:ext>
            </a:extLst>
          </p:cNvPr>
          <p:cNvSpPr>
            <a:spLocks noGrp="1"/>
          </p:cNvSpPr>
          <p:nvPr>
            <p:ph type="title"/>
          </p:nvPr>
        </p:nvSpPr>
        <p:spPr>
          <a:xfrm>
            <a:off x="685801" y="225050"/>
            <a:ext cx="10131425" cy="1456267"/>
          </a:xfrm>
        </p:spPr>
        <p:txBody>
          <a:bodyPr>
            <a:normAutofit/>
          </a:bodyPr>
          <a:lstStyle/>
          <a:p>
            <a:r>
              <a:rPr lang="en-US" sz="2800" b="1" dirty="0">
                <a:latin typeface="Times New Roman" panose="02020603050405020304" pitchFamily="18" charset="0"/>
                <a:cs typeface="Times New Roman" panose="02020603050405020304" pitchFamily="18" charset="0"/>
              </a:rPr>
              <a:t>Functions of transport layer</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C07DC3-E3BC-5D9E-3886-CF0413A0C928}"/>
              </a:ext>
            </a:extLst>
          </p:cNvPr>
          <p:cNvSpPr>
            <a:spLocks noGrp="1"/>
          </p:cNvSpPr>
          <p:nvPr>
            <p:ph idx="1"/>
          </p:nvPr>
        </p:nvSpPr>
        <p:spPr>
          <a:xfrm>
            <a:off x="685801" y="1563329"/>
            <a:ext cx="10131425" cy="4675240"/>
          </a:xfrm>
        </p:spPr>
        <p:txBody>
          <a:bodyPr>
            <a:normAutofit fontScale="77500" lnSpcReduction="20000"/>
          </a:bodyPr>
          <a:lstStyle/>
          <a:p>
            <a:pPr algn="l" fontAlgn="base">
              <a:buFont typeface="Wingdings" panose="05000000000000000000" pitchFamily="2" charset="2"/>
              <a:buChar char="Ø"/>
            </a:pPr>
            <a:r>
              <a:rPr lang="en-US" b="1" i="0" dirty="0">
                <a:solidFill>
                  <a:srgbClr val="FFFFFF"/>
                </a:solidFill>
                <a:effectLst/>
                <a:latin typeface="Nunito" pitchFamily="2" charset="0"/>
              </a:rPr>
              <a:t>Segmentation and Reassembly: </a:t>
            </a:r>
            <a:r>
              <a:rPr lang="en-US" b="0" i="0" dirty="0">
                <a:solidFill>
                  <a:srgbClr val="FFFFFF"/>
                </a:solidFill>
                <a:effectLst/>
                <a:latin typeface="Nunito" pitchFamily="2" charset="0"/>
              </a:rPr>
              <a:t>This layer accepts the message from the (session) layer, and breaks the message into smaller units. Each of the segments produced has a header associated with it. The transport layer at the destination station reassembles the message.</a:t>
            </a:r>
          </a:p>
          <a:p>
            <a:pPr algn="l" fontAlgn="base">
              <a:buFont typeface="Wingdings" panose="05000000000000000000" pitchFamily="2" charset="2"/>
              <a:buChar char="Ø"/>
            </a:pPr>
            <a:r>
              <a:rPr lang="en-US" b="1" i="0" dirty="0">
                <a:solidFill>
                  <a:srgbClr val="FFFFFF"/>
                </a:solidFill>
                <a:effectLst/>
                <a:latin typeface="Nunito" pitchFamily="2" charset="0"/>
              </a:rPr>
              <a:t>Service Point Addressing: </a:t>
            </a:r>
            <a:r>
              <a:rPr lang="en-US" b="0" i="0" dirty="0">
                <a:solidFill>
                  <a:srgbClr val="FFFFFF"/>
                </a:solidFill>
                <a:effectLst/>
                <a:latin typeface="Nunito" pitchFamily="2" charset="0"/>
              </a:rPr>
              <a:t>To deliver the message to the correct process, the transport layer header includes a type of address called service point address or port address. Thus by specifying this address, the transport layer makes sure that the message is delivered to the correct process.</a:t>
            </a:r>
          </a:p>
          <a:p>
            <a:pPr algn="l" fontAlgn="base">
              <a:buFont typeface="Wingdings" panose="05000000000000000000" pitchFamily="2" charset="2"/>
              <a:buChar char="Ø"/>
            </a:pPr>
            <a:r>
              <a:rPr lang="en-US" b="1" i="0" dirty="0">
                <a:solidFill>
                  <a:srgbClr val="FFFFFF"/>
                </a:solidFill>
                <a:effectLst/>
                <a:latin typeface="Nunito" pitchFamily="2" charset="0"/>
              </a:rPr>
              <a:t>Services Provided by Transport Layer</a:t>
            </a:r>
            <a:endParaRPr lang="en-US" b="0" i="0" dirty="0">
              <a:solidFill>
                <a:srgbClr val="FFFFFF"/>
              </a:solidFill>
              <a:effectLst/>
              <a:latin typeface="Nunito" pitchFamily="2" charset="0"/>
            </a:endParaRPr>
          </a:p>
          <a:p>
            <a:pPr algn="just" rtl="0" fontAlgn="base">
              <a:buFont typeface="Wingdings" panose="05000000000000000000" pitchFamily="2" charset="2"/>
              <a:buChar char="Ø"/>
            </a:pPr>
            <a:r>
              <a:rPr lang="en-US" b="1" i="0" dirty="0">
                <a:solidFill>
                  <a:srgbClr val="FFFFFF"/>
                </a:solidFill>
                <a:effectLst/>
                <a:latin typeface="Nunito" pitchFamily="2" charset="0"/>
              </a:rPr>
              <a:t>1. Connection-Oriented Service: </a:t>
            </a:r>
            <a:r>
              <a:rPr lang="en-US" b="0" i="0" dirty="0">
                <a:solidFill>
                  <a:srgbClr val="FFFFFF"/>
                </a:solidFill>
                <a:effectLst/>
                <a:latin typeface="Nunito" pitchFamily="2" charset="0"/>
              </a:rPr>
              <a:t>It is a three-phase process that includes:</a:t>
            </a:r>
          </a:p>
          <a:p>
            <a:pPr algn="l" fontAlgn="base">
              <a:buFont typeface="Wingdings" panose="05000000000000000000" pitchFamily="2" charset="2"/>
              <a:buChar char="Ø"/>
            </a:pPr>
            <a:r>
              <a:rPr lang="en-US" b="0" i="0" dirty="0">
                <a:solidFill>
                  <a:srgbClr val="FFFFFF"/>
                </a:solidFill>
                <a:effectLst/>
                <a:latin typeface="Nunito" pitchFamily="2" charset="0"/>
              </a:rPr>
              <a:t>Connection Establishment</a:t>
            </a:r>
          </a:p>
          <a:p>
            <a:pPr algn="l" fontAlgn="base">
              <a:buFont typeface="Wingdings" panose="05000000000000000000" pitchFamily="2" charset="2"/>
              <a:buChar char="Ø"/>
            </a:pPr>
            <a:r>
              <a:rPr lang="en-US" b="0" i="0" dirty="0">
                <a:solidFill>
                  <a:srgbClr val="FFFFFF"/>
                </a:solidFill>
                <a:effectLst/>
                <a:latin typeface="Nunito" pitchFamily="2" charset="0"/>
              </a:rPr>
              <a:t>Data Transfer</a:t>
            </a:r>
          </a:p>
          <a:p>
            <a:pPr algn="l" fontAlgn="base">
              <a:buFont typeface="Wingdings" panose="05000000000000000000" pitchFamily="2" charset="2"/>
              <a:buChar char="Ø"/>
            </a:pPr>
            <a:r>
              <a:rPr lang="en-US" b="0" i="0" dirty="0">
                <a:solidFill>
                  <a:srgbClr val="FFFFFF"/>
                </a:solidFill>
                <a:effectLst/>
                <a:latin typeface="Nunito" pitchFamily="2" charset="0"/>
              </a:rPr>
              <a:t>Termination/disconnection</a:t>
            </a:r>
          </a:p>
          <a:p>
            <a:pPr algn="just" rtl="0" fontAlgn="base">
              <a:buFont typeface="Wingdings" panose="05000000000000000000" pitchFamily="2" charset="2"/>
              <a:buChar char="Ø"/>
            </a:pPr>
            <a:r>
              <a:rPr lang="en-US" b="0" i="0" dirty="0">
                <a:solidFill>
                  <a:srgbClr val="FFFFFF"/>
                </a:solidFill>
                <a:effectLst/>
                <a:latin typeface="Nunito" pitchFamily="2" charset="0"/>
              </a:rPr>
              <a:t>In this type of transmission, the receiving device sends an acknowledgment, back to the source after a packet or group of packets is received. This type of transmission is reliable and secure.</a:t>
            </a:r>
          </a:p>
          <a:p>
            <a:pPr algn="just" rtl="0" fontAlgn="base">
              <a:buFont typeface="Wingdings" panose="05000000000000000000" pitchFamily="2" charset="2"/>
              <a:buChar char="Ø"/>
            </a:pPr>
            <a:r>
              <a:rPr lang="en-US" b="1" i="0" dirty="0">
                <a:solidFill>
                  <a:srgbClr val="FFFFFF"/>
                </a:solidFill>
                <a:effectLst/>
                <a:latin typeface="Nunito" pitchFamily="2" charset="0"/>
              </a:rPr>
              <a:t>2. Connectionless service: </a:t>
            </a:r>
            <a:r>
              <a:rPr lang="en-US" b="0" i="0" dirty="0">
                <a:solidFill>
                  <a:srgbClr val="FFFFFF"/>
                </a:solidFill>
                <a:effectLst/>
                <a:latin typeface="Nunito" pitchFamily="2" charset="0"/>
              </a:rPr>
              <a:t>It is a one-phase process and includes Data Transfer. In this type of transmission, the receiver does not acknowledge receipt of a packet. This approach allows for much faster communication between devices. Connection-oriented service is more reliable than connectionless Service.</a:t>
            </a:r>
            <a:br>
              <a:rPr lang="en-US" dirty="0"/>
            </a:br>
            <a:endParaRPr lang="en-IN" dirty="0"/>
          </a:p>
        </p:txBody>
      </p:sp>
    </p:spTree>
    <p:extLst>
      <p:ext uri="{BB962C8B-B14F-4D97-AF65-F5344CB8AC3E}">
        <p14:creationId xmlns:p14="http://schemas.microsoft.com/office/powerpoint/2010/main" val="3409893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88321-8EAE-059C-F37E-33DE1D4A7522}"/>
              </a:ext>
            </a:extLst>
          </p:cNvPr>
          <p:cNvSpPr>
            <a:spLocks noGrp="1"/>
          </p:cNvSpPr>
          <p:nvPr>
            <p:ph type="title"/>
          </p:nvPr>
        </p:nvSpPr>
        <p:spPr>
          <a:xfrm>
            <a:off x="685799" y="628991"/>
            <a:ext cx="3680885" cy="806792"/>
          </a:xfrm>
        </p:spPr>
        <p:txBody>
          <a:bodyPr>
            <a:normAutofit/>
          </a:bodyPr>
          <a:lstStyle/>
          <a:p>
            <a:r>
              <a:rPr lang="en-US" sz="2800" b="1" dirty="0">
                <a:latin typeface="Times New Roman" panose="02020603050405020304" pitchFamily="18" charset="0"/>
                <a:cs typeface="Times New Roman" panose="02020603050405020304" pitchFamily="18" charset="0"/>
              </a:rPr>
              <a:t>Network layer</a:t>
            </a:r>
            <a:endParaRPr lang="en-IN" sz="2800"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53621D50-B8E9-435E-9A11-EA3D5A2E1537}"/>
              </a:ext>
            </a:extLst>
          </p:cNvPr>
          <p:cNvPicPr>
            <a:picLocks noGrp="1" noChangeAspect="1"/>
          </p:cNvPicPr>
          <p:nvPr>
            <p:ph idx="1"/>
          </p:nvPr>
        </p:nvPicPr>
        <p:blipFill>
          <a:blip r:embed="rId3"/>
          <a:stretch>
            <a:fillRect/>
          </a:stretch>
        </p:blipFill>
        <p:spPr>
          <a:xfrm>
            <a:off x="6167464" y="2208264"/>
            <a:ext cx="4514850" cy="2952750"/>
          </a:xfrm>
        </p:spPr>
      </p:pic>
      <p:sp>
        <p:nvSpPr>
          <p:cNvPr id="4" name="Text Placeholder 3">
            <a:extLst>
              <a:ext uri="{FF2B5EF4-FFF2-40B4-BE49-F238E27FC236}">
                <a16:creationId xmlns:a16="http://schemas.microsoft.com/office/drawing/2014/main" id="{C65E6FDD-FE2B-F2A3-8100-6ABDD06E27D0}"/>
              </a:ext>
            </a:extLst>
          </p:cNvPr>
          <p:cNvSpPr>
            <a:spLocks noGrp="1"/>
          </p:cNvSpPr>
          <p:nvPr>
            <p:ph type="body" sz="half" idx="2"/>
          </p:nvPr>
        </p:nvSpPr>
        <p:spPr>
          <a:xfrm>
            <a:off x="685800" y="1730476"/>
            <a:ext cx="4603955" cy="4365524"/>
          </a:xfrm>
        </p:spPr>
        <p:txBody>
          <a:bodyPr>
            <a:normAutofit/>
          </a:bodyPr>
          <a:lstStyle/>
          <a:p>
            <a:pPr algn="just" rtl="0" fontAlgn="base">
              <a:buFont typeface="Wingdings" panose="05000000000000000000" pitchFamily="2" charset="2"/>
              <a:buChar char="Ø"/>
            </a:pPr>
            <a:r>
              <a:rPr lang="en-US" b="0" i="0" dirty="0">
                <a:solidFill>
                  <a:srgbClr val="FFFFFF"/>
                </a:solidFill>
                <a:effectLst/>
                <a:latin typeface="Times New Roman" panose="02020603050405020304" pitchFamily="18" charset="0"/>
                <a:cs typeface="Times New Roman" panose="02020603050405020304" pitchFamily="18" charset="0"/>
              </a:rPr>
              <a:t>The network layer works for the transmission of data from one host to the other located in different networks. It also takes care of packet routing i.e. selection of the shortest path to transmit the packet, from the number of routes available. The sender &amp; receiver’s </a:t>
            </a:r>
            <a:r>
              <a:rPr lang="en-US" u="sng" dirty="0">
                <a:solidFill>
                  <a:srgbClr val="FFFFFF"/>
                </a:solidFill>
                <a:latin typeface="Times New Roman" panose="02020603050405020304" pitchFamily="18" charset="0"/>
                <a:cs typeface="Times New Roman" panose="02020603050405020304" pitchFamily="18" charset="0"/>
              </a:rPr>
              <a:t>IP  address</a:t>
            </a:r>
            <a:r>
              <a:rPr lang="en-US" b="0" i="0" dirty="0">
                <a:solidFill>
                  <a:srgbClr val="FFFFFF"/>
                </a:solidFill>
                <a:effectLst/>
                <a:latin typeface="Times New Roman" panose="02020603050405020304" pitchFamily="18" charset="0"/>
                <a:cs typeface="Times New Roman" panose="02020603050405020304" pitchFamily="18" charset="0"/>
              </a:rPr>
              <a:t>es are placed in the header by the network layer.</a:t>
            </a:r>
          </a:p>
          <a:p>
            <a:pPr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Functions of the Network Layer</a:t>
            </a:r>
          </a:p>
          <a:p>
            <a:pPr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Routing: </a:t>
            </a:r>
            <a:r>
              <a:rPr lang="en-US" b="0" i="0" dirty="0">
                <a:solidFill>
                  <a:srgbClr val="FFFFFF"/>
                </a:solidFill>
                <a:effectLst/>
                <a:latin typeface="Times New Roman" panose="02020603050405020304" pitchFamily="18" charset="0"/>
                <a:cs typeface="Times New Roman" panose="02020603050405020304" pitchFamily="18" charset="0"/>
              </a:rPr>
              <a:t>The network layer protocols determine which route is suitable from source to destination. This function of the network layer is known as routing.</a:t>
            </a:r>
          </a:p>
          <a:p>
            <a:pPr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Logical Addressing: </a:t>
            </a:r>
            <a:r>
              <a:rPr lang="en-US" b="0" i="0" dirty="0">
                <a:solidFill>
                  <a:srgbClr val="FFFFFF"/>
                </a:solidFill>
                <a:effectLst/>
                <a:latin typeface="Times New Roman" panose="02020603050405020304" pitchFamily="18" charset="0"/>
                <a:cs typeface="Times New Roman" panose="02020603050405020304" pitchFamily="18" charset="0"/>
              </a:rPr>
              <a:t>To identify each device inter-network uniquely, the network layer defines an addressing scheme. The sender &amp; receiver’s IP addresses are placed in the header by the network layer. Such an address distinguishes each device uniquely and universally.</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63620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464FA-8B01-F45E-8D58-05774D60EC00}"/>
              </a:ext>
            </a:extLst>
          </p:cNvPr>
          <p:cNvSpPr>
            <a:spLocks noGrp="1"/>
          </p:cNvSpPr>
          <p:nvPr>
            <p:ph type="title"/>
          </p:nvPr>
        </p:nvSpPr>
        <p:spPr>
          <a:xfrm>
            <a:off x="892277" y="393154"/>
            <a:ext cx="3680885" cy="570545"/>
          </a:xfrm>
        </p:spPr>
        <p:txBody>
          <a:bodyPr>
            <a:normAutofit/>
          </a:bodyPr>
          <a:lstStyle/>
          <a:p>
            <a:r>
              <a:rPr lang="en-US" sz="2800" b="1" dirty="0">
                <a:latin typeface="Times New Roman" panose="02020603050405020304" pitchFamily="18" charset="0"/>
                <a:cs typeface="Times New Roman" panose="02020603050405020304" pitchFamily="18" charset="0"/>
              </a:rPr>
              <a:t>Data  link layer</a:t>
            </a:r>
            <a:endParaRPr lang="en-IN" sz="2800" b="1"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8847EBC7-350C-D461-8FA5-C8E4C4D21500}"/>
              </a:ext>
            </a:extLst>
          </p:cNvPr>
          <p:cNvSpPr>
            <a:spLocks noGrp="1"/>
          </p:cNvSpPr>
          <p:nvPr>
            <p:ph type="body" sz="half" idx="2"/>
          </p:nvPr>
        </p:nvSpPr>
        <p:spPr>
          <a:xfrm>
            <a:off x="754627" y="1359157"/>
            <a:ext cx="5341374" cy="4513006"/>
          </a:xfrm>
        </p:spPr>
        <p:txBody>
          <a:bodyPr>
            <a:normAutofit/>
          </a:bodyPr>
          <a:lstStyle/>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Framing: </a:t>
            </a:r>
            <a:r>
              <a:rPr lang="en-US" b="0" i="0" dirty="0">
                <a:solidFill>
                  <a:srgbClr val="FFFFFF"/>
                </a:solidFill>
                <a:effectLst/>
                <a:latin typeface="Times New Roman" panose="02020603050405020304" pitchFamily="18" charset="0"/>
                <a:cs typeface="Times New Roman" panose="02020603050405020304" pitchFamily="18" charset="0"/>
              </a:rPr>
              <a:t>Framing is a function of the data link layer. It provides a way for a sender to transmit a set of bits that are meaningful to the receiver. This can be accomplished by attaching special bit patterns to the beginning and end of the frame.</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Physical Addressing: </a:t>
            </a:r>
            <a:r>
              <a:rPr lang="en-US" b="0" i="0" dirty="0">
                <a:solidFill>
                  <a:srgbClr val="FFFFFF"/>
                </a:solidFill>
                <a:effectLst/>
                <a:latin typeface="Times New Roman" panose="02020603050405020304" pitchFamily="18" charset="0"/>
                <a:cs typeface="Times New Roman" panose="02020603050405020304" pitchFamily="18" charset="0"/>
              </a:rPr>
              <a:t>After creating frames, the Data link layer adds physical addresses ( </a:t>
            </a:r>
            <a:r>
              <a:rPr lang="en-US" b="1" i="0" dirty="0">
                <a:solidFill>
                  <a:srgbClr val="FFFFFF"/>
                </a:solidFill>
                <a:effectLst/>
                <a:latin typeface="Times New Roman" panose="02020603050405020304" pitchFamily="18" charset="0"/>
                <a:cs typeface="Times New Roman" panose="02020603050405020304" pitchFamily="18" charset="0"/>
              </a:rPr>
              <a:t>MAC addresses </a:t>
            </a:r>
            <a:r>
              <a:rPr lang="en-US" b="0" i="0" dirty="0">
                <a:solidFill>
                  <a:srgbClr val="FFFFFF"/>
                </a:solidFill>
                <a:effectLst/>
                <a:latin typeface="Times New Roman" panose="02020603050405020304" pitchFamily="18" charset="0"/>
                <a:cs typeface="Times New Roman" panose="02020603050405020304" pitchFamily="18" charset="0"/>
              </a:rPr>
              <a:t>) of the sender and/or receiver in the header of each frame.</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Error Control: </a:t>
            </a:r>
            <a:r>
              <a:rPr lang="en-US" b="0" i="0" dirty="0">
                <a:solidFill>
                  <a:srgbClr val="FFFFFF"/>
                </a:solidFill>
                <a:effectLst/>
                <a:latin typeface="Times New Roman" panose="02020603050405020304" pitchFamily="18" charset="0"/>
                <a:cs typeface="Times New Roman" panose="02020603050405020304" pitchFamily="18" charset="0"/>
              </a:rPr>
              <a:t>The data link layer provides the mechanism of error control in which it detects and retransmits damaged or lost frames.</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Flow Control: </a:t>
            </a:r>
            <a:r>
              <a:rPr lang="en-US" b="0" i="0" dirty="0">
                <a:solidFill>
                  <a:srgbClr val="FFFFFF"/>
                </a:solidFill>
                <a:effectLst/>
                <a:latin typeface="Times New Roman" panose="02020603050405020304" pitchFamily="18" charset="0"/>
                <a:cs typeface="Times New Roman" panose="02020603050405020304" pitchFamily="18" charset="0"/>
              </a:rPr>
              <a:t>The data rate must be constant on both sides else the data may get corrupted thus, flow control coordinates the amount of data that can be sent before receiving an acknowledgment.</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Access Control: </a:t>
            </a:r>
            <a:r>
              <a:rPr lang="en-US" b="0" i="0" dirty="0">
                <a:solidFill>
                  <a:srgbClr val="FFFFFF"/>
                </a:solidFill>
                <a:effectLst/>
                <a:latin typeface="Times New Roman" panose="02020603050405020304" pitchFamily="18" charset="0"/>
                <a:cs typeface="Times New Roman" panose="02020603050405020304" pitchFamily="18" charset="0"/>
              </a:rPr>
              <a:t>When a single communication channel is shared by multiple devices, the MAC sub-layer of the data link layer helps to determine which device has control over the channel at a given time.</a:t>
            </a:r>
          </a:p>
          <a:p>
            <a:endParaRPr lang="en-IN" dirty="0"/>
          </a:p>
        </p:txBody>
      </p:sp>
      <p:pic>
        <p:nvPicPr>
          <p:cNvPr id="12" name="Picture 11">
            <a:extLst>
              <a:ext uri="{FF2B5EF4-FFF2-40B4-BE49-F238E27FC236}">
                <a16:creationId xmlns:a16="http://schemas.microsoft.com/office/drawing/2014/main" id="{2CAE4D51-BEF3-6290-FD58-7E5FCCF955D7}"/>
              </a:ext>
            </a:extLst>
          </p:cNvPr>
          <p:cNvPicPr>
            <a:picLocks noChangeAspect="1"/>
          </p:cNvPicPr>
          <p:nvPr/>
        </p:nvPicPr>
        <p:blipFill>
          <a:blip r:embed="rId2"/>
          <a:stretch>
            <a:fillRect/>
          </a:stretch>
        </p:blipFill>
        <p:spPr>
          <a:xfrm>
            <a:off x="6685935" y="1359158"/>
            <a:ext cx="5112774" cy="3966316"/>
          </a:xfrm>
          <a:prstGeom prst="rect">
            <a:avLst/>
          </a:prstGeom>
        </p:spPr>
      </p:pic>
    </p:spTree>
    <p:extLst>
      <p:ext uri="{BB962C8B-B14F-4D97-AF65-F5344CB8AC3E}">
        <p14:creationId xmlns:p14="http://schemas.microsoft.com/office/powerpoint/2010/main" val="2997201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3F1D4-AB8A-78A9-B8B6-218330784408}"/>
              </a:ext>
            </a:extLst>
          </p:cNvPr>
          <p:cNvSpPr>
            <a:spLocks noGrp="1"/>
          </p:cNvSpPr>
          <p:nvPr>
            <p:ph type="title"/>
          </p:nvPr>
        </p:nvSpPr>
        <p:spPr>
          <a:xfrm>
            <a:off x="685802" y="388374"/>
            <a:ext cx="10131425" cy="1022555"/>
          </a:xfrm>
        </p:spPr>
        <p:txBody>
          <a:bodyPr>
            <a:normAutofit/>
          </a:bodyPr>
          <a:lstStyle/>
          <a:p>
            <a:r>
              <a:rPr lang="en-US" sz="2800" b="1" dirty="0">
                <a:latin typeface="Times New Roman" panose="02020603050405020304" pitchFamily="18" charset="0"/>
                <a:cs typeface="Times New Roman" panose="02020603050405020304" pitchFamily="18" charset="0"/>
              </a:rPr>
              <a:t>Physical layer</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BD75D7-DBC0-DF21-C82C-D50865250E0D}"/>
              </a:ext>
            </a:extLst>
          </p:cNvPr>
          <p:cNvSpPr>
            <a:spLocks noGrp="1"/>
          </p:cNvSpPr>
          <p:nvPr>
            <p:ph idx="1"/>
          </p:nvPr>
        </p:nvSpPr>
        <p:spPr>
          <a:xfrm>
            <a:off x="685802" y="1524002"/>
            <a:ext cx="11319385" cy="3913237"/>
          </a:xfrm>
        </p:spPr>
        <p:txBody>
          <a:bodyPr>
            <a:normAutofit fontScale="85000" lnSpcReduction="20000"/>
          </a:bodyPr>
          <a:lstStyle/>
          <a:p>
            <a:pPr rtl="0" fontAlgn="base">
              <a:buFont typeface="Wingdings" panose="05000000000000000000" pitchFamily="2" charset="2"/>
              <a:buChar char="Ø"/>
            </a:pPr>
            <a:r>
              <a:rPr lang="en-US" b="0" i="0" dirty="0">
                <a:solidFill>
                  <a:srgbClr val="FFFFFF"/>
                </a:solidFill>
                <a:effectLst/>
                <a:latin typeface="Times New Roman" panose="02020603050405020304" pitchFamily="18" charset="0"/>
                <a:cs typeface="Times New Roman" panose="02020603050405020304" pitchFamily="18" charset="0"/>
              </a:rPr>
              <a:t>The lowest layer of the OSI reference model is the physical layer. It is responsible for the actual physical connection between the devices. The physical layer contains information in the form of </a:t>
            </a:r>
            <a:r>
              <a:rPr lang="en-US" b="1" i="0" dirty="0">
                <a:solidFill>
                  <a:srgbClr val="FFFFFF"/>
                </a:solidFill>
                <a:effectLst/>
                <a:latin typeface="Times New Roman" panose="02020603050405020304" pitchFamily="18" charset="0"/>
                <a:cs typeface="Times New Roman" panose="02020603050405020304" pitchFamily="18" charset="0"/>
              </a:rPr>
              <a:t>bits. </a:t>
            </a:r>
            <a:r>
              <a:rPr lang="en-US" b="0" i="0" dirty="0">
                <a:solidFill>
                  <a:srgbClr val="FFFFFF"/>
                </a:solidFill>
                <a:effectLst/>
                <a:latin typeface="Times New Roman" panose="02020603050405020304" pitchFamily="18" charset="0"/>
                <a:cs typeface="Times New Roman" panose="02020603050405020304" pitchFamily="18" charset="0"/>
              </a:rPr>
              <a:t>It is responsible for transmitting individual bits from one node to the next. When receiving data, this layer will get the signal received and convert it into 0s and 1s and send them to the Data Link layer, which will put the frame back together.</a:t>
            </a:r>
          </a:p>
          <a:p>
            <a:pPr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Functions of the Physical Layer</a:t>
            </a:r>
          </a:p>
          <a:p>
            <a:pPr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Bit Synchronization: </a:t>
            </a:r>
            <a:r>
              <a:rPr lang="en-US" b="0" i="0" dirty="0">
                <a:solidFill>
                  <a:srgbClr val="FFFFFF"/>
                </a:solidFill>
                <a:effectLst/>
                <a:latin typeface="Times New Roman" panose="02020603050405020304" pitchFamily="18" charset="0"/>
                <a:cs typeface="Times New Roman" panose="02020603050405020304" pitchFamily="18" charset="0"/>
              </a:rPr>
              <a:t>The physical layer provides the synchronization of the bits by providing a clock. This clock controls both sender and receiver thus providing synchronization at the bit level.</a:t>
            </a:r>
          </a:p>
          <a:p>
            <a:pPr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Bit Rate Control: </a:t>
            </a:r>
            <a:r>
              <a:rPr lang="en-US" b="0" i="0" dirty="0">
                <a:solidFill>
                  <a:srgbClr val="FFFFFF"/>
                </a:solidFill>
                <a:effectLst/>
                <a:latin typeface="Times New Roman" panose="02020603050405020304" pitchFamily="18" charset="0"/>
                <a:cs typeface="Times New Roman" panose="02020603050405020304" pitchFamily="18" charset="0"/>
              </a:rPr>
              <a:t>The Physical layer also defines the transmission rate i.e. the number of bits sent per second.</a:t>
            </a:r>
          </a:p>
          <a:p>
            <a:pPr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Physical Topologies: </a:t>
            </a:r>
            <a:r>
              <a:rPr lang="en-US" b="0" i="0" dirty="0">
                <a:solidFill>
                  <a:srgbClr val="FFFFFF"/>
                </a:solidFill>
                <a:effectLst/>
                <a:latin typeface="Times New Roman" panose="02020603050405020304" pitchFamily="18" charset="0"/>
                <a:cs typeface="Times New Roman" panose="02020603050405020304" pitchFamily="18" charset="0"/>
              </a:rPr>
              <a:t>Physical layer specifies how the different, devices/nodes are arranged in a network i.e. bus, star, or mesh topology.</a:t>
            </a:r>
          </a:p>
          <a:p>
            <a:pPr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Transmission Mode: </a:t>
            </a:r>
            <a:r>
              <a:rPr lang="en-US" b="0" i="0" dirty="0">
                <a:solidFill>
                  <a:srgbClr val="FFFFFF"/>
                </a:solidFill>
                <a:effectLst/>
                <a:latin typeface="Times New Roman" panose="02020603050405020304" pitchFamily="18" charset="0"/>
                <a:cs typeface="Times New Roman" panose="02020603050405020304" pitchFamily="18" charset="0"/>
              </a:rPr>
              <a:t>Physical layer also defines how the data flows between the two connected devices. The various transmission modes possible are Simplex, half-duplex and full-duplex.</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12737BB-A4A6-0980-E290-703CDCF94409}"/>
              </a:ext>
            </a:extLst>
          </p:cNvPr>
          <p:cNvPicPr>
            <a:picLocks noChangeAspect="1"/>
          </p:cNvPicPr>
          <p:nvPr/>
        </p:nvPicPr>
        <p:blipFill>
          <a:blip r:embed="rId2"/>
          <a:stretch>
            <a:fillRect/>
          </a:stretch>
        </p:blipFill>
        <p:spPr>
          <a:xfrm>
            <a:off x="3827464" y="5434781"/>
            <a:ext cx="3848100" cy="990600"/>
          </a:xfrm>
          <a:prstGeom prst="rect">
            <a:avLst/>
          </a:prstGeom>
        </p:spPr>
      </p:pic>
    </p:spTree>
    <p:extLst>
      <p:ext uri="{BB962C8B-B14F-4D97-AF65-F5344CB8AC3E}">
        <p14:creationId xmlns:p14="http://schemas.microsoft.com/office/powerpoint/2010/main" val="939756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1C7F-8DB7-36E7-DA81-B5371A97494C}"/>
              </a:ext>
            </a:extLst>
          </p:cNvPr>
          <p:cNvSpPr>
            <a:spLocks noGrp="1"/>
          </p:cNvSpPr>
          <p:nvPr>
            <p:ph type="title"/>
          </p:nvPr>
        </p:nvSpPr>
        <p:spPr>
          <a:xfrm>
            <a:off x="431066" y="786307"/>
            <a:ext cx="4005998" cy="727860"/>
          </a:xfrm>
        </p:spPr>
        <p:txBody>
          <a:bodyPr>
            <a:normAutofit/>
          </a:bodyPr>
          <a:lstStyle/>
          <a:p>
            <a:r>
              <a:rPr lang="en-US" sz="2000" dirty="0">
                <a:latin typeface="Times New Roman" panose="02020603050405020304" pitchFamily="18" charset="0"/>
                <a:cs typeface="Times New Roman" panose="02020603050405020304" pitchFamily="18" charset="0"/>
              </a:rPr>
              <a:t>Data flow of OSI model</a:t>
            </a:r>
            <a:endParaRPr lang="en-IN" sz="2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5B198ADE-56FA-7507-5212-43F124472E9A}"/>
              </a:ext>
            </a:extLst>
          </p:cNvPr>
          <p:cNvPicPr>
            <a:picLocks noGrp="1" noChangeAspect="1"/>
          </p:cNvPicPr>
          <p:nvPr>
            <p:ph idx="1"/>
          </p:nvPr>
        </p:nvPicPr>
        <p:blipFill>
          <a:blip r:embed="rId2"/>
          <a:stretch>
            <a:fillRect/>
          </a:stretch>
        </p:blipFill>
        <p:spPr>
          <a:xfrm>
            <a:off x="4784725" y="1982333"/>
            <a:ext cx="5195888" cy="3502933"/>
          </a:xfrm>
        </p:spPr>
      </p:pic>
      <p:sp>
        <p:nvSpPr>
          <p:cNvPr id="4" name="Text Placeholder 3">
            <a:extLst>
              <a:ext uri="{FF2B5EF4-FFF2-40B4-BE49-F238E27FC236}">
                <a16:creationId xmlns:a16="http://schemas.microsoft.com/office/drawing/2014/main" id="{8C706017-7EEE-1581-8EC2-48E5364B0738}"/>
              </a:ext>
            </a:extLst>
          </p:cNvPr>
          <p:cNvSpPr>
            <a:spLocks noGrp="1"/>
          </p:cNvSpPr>
          <p:nvPr>
            <p:ph type="body" sz="half" idx="2"/>
          </p:nvPr>
        </p:nvSpPr>
        <p:spPr>
          <a:xfrm>
            <a:off x="431066" y="1828798"/>
            <a:ext cx="4396573" cy="4493344"/>
          </a:xfrm>
        </p:spPr>
        <p:txBody>
          <a:bodyPr>
            <a:normAutofit fontScale="92500"/>
          </a:bodyPr>
          <a:lstStyle/>
          <a:p>
            <a:pPr algn="l" rtl="0" fontAlgn="base"/>
            <a:r>
              <a:rPr lang="en-US" b="0" i="0" dirty="0">
                <a:solidFill>
                  <a:srgbClr val="FFFFFF"/>
                </a:solidFill>
                <a:effectLst/>
                <a:latin typeface="Times New Roman" panose="02020603050405020304" pitchFamily="18" charset="0"/>
                <a:cs typeface="Times New Roman" panose="02020603050405020304" pitchFamily="18" charset="0"/>
              </a:rPr>
              <a:t>When we transfer information from one device to another, it travels through 7 layers of OSI model. First data travels down through 7 layers from the sender’s end and then climbs back 7 layers on the receiver’s end.</a:t>
            </a:r>
          </a:p>
          <a:p>
            <a:pPr marL="285750" indent="-285750" algn="l" rtl="0" fontAlgn="base">
              <a:buFont typeface="Wingdings" panose="05000000000000000000" pitchFamily="2" charset="2"/>
              <a:buChar char="Ø"/>
            </a:pPr>
            <a:r>
              <a:rPr lang="en-US" b="0" i="0" dirty="0">
                <a:solidFill>
                  <a:srgbClr val="FFFFFF"/>
                </a:solidFill>
                <a:effectLst/>
                <a:latin typeface="Times New Roman" panose="02020603050405020304" pitchFamily="18" charset="0"/>
                <a:cs typeface="Times New Roman" panose="02020603050405020304" pitchFamily="18" charset="0"/>
              </a:rPr>
              <a:t>Data flows through the OSI model in a step-by-step process:</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Application Layer: </a:t>
            </a:r>
            <a:r>
              <a:rPr lang="en-US" b="0" i="0" dirty="0">
                <a:solidFill>
                  <a:srgbClr val="FFFFFF"/>
                </a:solidFill>
                <a:effectLst/>
                <a:latin typeface="Times New Roman" panose="02020603050405020304" pitchFamily="18" charset="0"/>
                <a:cs typeface="Times New Roman" panose="02020603050405020304" pitchFamily="18" charset="0"/>
              </a:rPr>
              <a:t>Applications create the data.</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Presentation Layer: </a:t>
            </a:r>
            <a:r>
              <a:rPr lang="en-US" b="0" i="0" dirty="0">
                <a:solidFill>
                  <a:srgbClr val="FFFFFF"/>
                </a:solidFill>
                <a:effectLst/>
                <a:latin typeface="Times New Roman" panose="02020603050405020304" pitchFamily="18" charset="0"/>
                <a:cs typeface="Times New Roman" panose="02020603050405020304" pitchFamily="18" charset="0"/>
              </a:rPr>
              <a:t>Data is formatted and encrypted.</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Session Layer: </a:t>
            </a:r>
            <a:r>
              <a:rPr lang="en-US" b="0" i="0" dirty="0">
                <a:solidFill>
                  <a:srgbClr val="FFFFFF"/>
                </a:solidFill>
                <a:effectLst/>
                <a:latin typeface="Times New Roman" panose="02020603050405020304" pitchFamily="18" charset="0"/>
                <a:cs typeface="Times New Roman" panose="02020603050405020304" pitchFamily="18" charset="0"/>
              </a:rPr>
              <a:t>Connections are established and managed.</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Transport Layer: </a:t>
            </a:r>
            <a:r>
              <a:rPr lang="en-US" b="0" i="0" dirty="0">
                <a:solidFill>
                  <a:srgbClr val="FFFFFF"/>
                </a:solidFill>
                <a:effectLst/>
                <a:latin typeface="Times New Roman" panose="02020603050405020304" pitchFamily="18" charset="0"/>
                <a:cs typeface="Times New Roman" panose="02020603050405020304" pitchFamily="18" charset="0"/>
              </a:rPr>
              <a:t>Data is broken into segments for reliable delivery.</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Network Layer </a:t>
            </a:r>
            <a:r>
              <a:rPr lang="en-US" b="0" i="0" dirty="0">
                <a:solidFill>
                  <a:srgbClr val="FFFFFF"/>
                </a:solidFill>
                <a:effectLst/>
                <a:latin typeface="Times New Roman" panose="02020603050405020304" pitchFamily="18" charset="0"/>
                <a:cs typeface="Times New Roman" panose="02020603050405020304" pitchFamily="18" charset="0"/>
              </a:rPr>
              <a:t>: Segments are packaged into packets and routed.</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Data Link Layer: </a:t>
            </a:r>
            <a:r>
              <a:rPr lang="en-US" b="0" i="0" dirty="0">
                <a:solidFill>
                  <a:srgbClr val="FFFFFF"/>
                </a:solidFill>
                <a:effectLst/>
                <a:latin typeface="Times New Roman" panose="02020603050405020304" pitchFamily="18" charset="0"/>
                <a:cs typeface="Times New Roman" panose="02020603050405020304" pitchFamily="18" charset="0"/>
              </a:rPr>
              <a:t>Packets are framed and sent to the next device.</a:t>
            </a:r>
          </a:p>
          <a:p>
            <a:pPr marL="285750" indent="-285750" algn="l" fontAlgn="base">
              <a:buFont typeface="Wingdings" panose="05000000000000000000" pitchFamily="2" charset="2"/>
              <a:buChar char="Ø"/>
            </a:pPr>
            <a:r>
              <a:rPr lang="en-US" b="1" i="0" dirty="0">
                <a:solidFill>
                  <a:srgbClr val="FFFFFF"/>
                </a:solidFill>
                <a:effectLst/>
                <a:latin typeface="Times New Roman" panose="02020603050405020304" pitchFamily="18" charset="0"/>
                <a:cs typeface="Times New Roman" panose="02020603050405020304" pitchFamily="18" charset="0"/>
              </a:rPr>
              <a:t>Physical Layer: </a:t>
            </a:r>
            <a:r>
              <a:rPr lang="en-US" b="0" i="0" dirty="0">
                <a:solidFill>
                  <a:srgbClr val="FFFFFF"/>
                </a:solidFill>
                <a:effectLst/>
                <a:latin typeface="Times New Roman" panose="02020603050405020304" pitchFamily="18" charset="0"/>
                <a:cs typeface="Times New Roman" panose="02020603050405020304" pitchFamily="18" charset="0"/>
              </a:rPr>
              <a:t>Frames are converted into bits and transmitted physically.</a:t>
            </a:r>
            <a:endParaRPr lang="en-US" b="0" i="0" dirty="0">
              <a:solidFill>
                <a:srgbClr val="FFFFFF"/>
              </a:solidFill>
              <a:effectLst/>
              <a:highlight>
                <a:srgbClr val="131417"/>
              </a:highligh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30151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E813716-8717-0CF1-366F-467E0266F7F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15783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187</TotalTime>
  <Words>1624</Words>
  <Application>Microsoft Office PowerPoint</Application>
  <PresentationFormat>Widescreen</PresentationFormat>
  <Paragraphs>76</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Century Gothic</vt:lpstr>
      <vt:lpstr>Nunito</vt:lpstr>
      <vt:lpstr>Times New Roman</vt:lpstr>
      <vt:lpstr>Wingdings</vt:lpstr>
      <vt:lpstr>Wingdings 3</vt:lpstr>
      <vt:lpstr>Ion</vt:lpstr>
      <vt:lpstr>Demonstrate OSI model with                        physical connectivity                                                                                                            Made by Rishabh Pandey</vt:lpstr>
      <vt:lpstr>Introduction</vt:lpstr>
      <vt:lpstr>Layers of OSI model</vt:lpstr>
      <vt:lpstr>Application layer</vt:lpstr>
      <vt:lpstr>Presentation layer</vt:lpstr>
      <vt:lpstr>Session layer</vt:lpstr>
      <vt:lpstr>Transport layer</vt:lpstr>
      <vt:lpstr>Functions of transport layer</vt:lpstr>
      <vt:lpstr>Network layer</vt:lpstr>
      <vt:lpstr>Data  link layer</vt:lpstr>
      <vt:lpstr>Physical layer</vt:lpstr>
      <vt:lpstr>Data flow of OSI model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dgrusher686@gmail.com</dc:creator>
  <cp:lastModifiedBy>dgrusher686@gmail.com</cp:lastModifiedBy>
  <cp:revision>2</cp:revision>
  <dcterms:created xsi:type="dcterms:W3CDTF">2024-09-24T13:27:17Z</dcterms:created>
  <dcterms:modified xsi:type="dcterms:W3CDTF">2024-10-16T08:17:32Z</dcterms:modified>
</cp:coreProperties>
</file>